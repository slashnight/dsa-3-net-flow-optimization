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0" r:id="rId3"/>
    <p:sldId id="264" r:id="rId4"/>
    <p:sldId id="258" r:id="rId5"/>
    <p:sldId id="261" r:id="rId6"/>
    <p:sldId id="265" r:id="rId7"/>
    <p:sldId id="259" r:id="rId8"/>
    <p:sldId id="267" r:id="rId9"/>
    <p:sldId id="266" r:id="rId10"/>
    <p:sldId id="260" r:id="rId11"/>
    <p:sldId id="262" r:id="rId12"/>
    <p:sldId id="269" r:id="rId13"/>
    <p:sldId id="271" r:id="rId14"/>
    <p:sldId id="272" r:id="rId15"/>
    <p:sldId id="273" r:id="rId16"/>
    <p:sldId id="274"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33" d="100"/>
          <a:sy n="33" d="100"/>
        </p:scale>
        <p:origin x="2578" y="12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88060" y="840024"/>
            <a:ext cx="11852694" cy="2316702"/>
          </a:xfrm>
        </p:spPr>
        <p:txBody>
          <a:bodyPr/>
          <a:lstStyle/>
          <a:p>
            <a:pPr algn="l">
              <a:lnSpc>
                <a:spcPct val="104000"/>
              </a:lnSpc>
            </a:pP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     Data Structures and Algorithms -3 </a:t>
            </a:r>
            <a:br>
              <a:rPr lang="en-US" sz="4000" b="1" dirty="0" smtClean="0">
                <a:solidFill>
                  <a:srgbClr val="C00000"/>
                </a:solidFill>
                <a:latin typeface="+mn-lt"/>
              </a:rPr>
            </a:br>
            <a:r>
              <a:rPr lang="en-US" sz="4000" b="1" dirty="0" smtClean="0">
                <a:solidFill>
                  <a:srgbClr val="C00000"/>
                </a:solidFill>
                <a:latin typeface="+mn-lt"/>
              </a:rPr>
              <a:t>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3600" b="1" u="sng" dirty="0">
                <a:solidFill>
                  <a:srgbClr val="FF0000"/>
                </a:solidFill>
                <a:latin typeface="Instrument Sans Medium" pitchFamily="34" charset="0"/>
                <a:ea typeface="Instrument Sans Medium" pitchFamily="34" charset="-122"/>
                <a:cs typeface="Instrument Sans Medium" pitchFamily="34" charset="-120"/>
              </a:rPr>
              <a:t>Network Flow Optimization Engine for Data </a:t>
            </a:r>
            <a:r>
              <a:rPr lang="en-US" sz="3600" b="1" u="sng" dirty="0" smtClean="0">
                <a:solidFill>
                  <a:srgbClr val="FF0000"/>
                </a:solidFill>
                <a:latin typeface="Instrument Sans Medium" pitchFamily="34" charset="0"/>
                <a:ea typeface="Instrument Sans Medium" pitchFamily="34" charset="-122"/>
                <a:cs typeface="Instrument Sans Medium" pitchFamily="34" charset="-120"/>
              </a:rPr>
              <a:t/>
            </a:r>
            <a:br>
              <a:rPr lang="en-US" sz="3600" b="1" u="sng" dirty="0" smtClean="0">
                <a:solidFill>
                  <a:srgbClr val="FF0000"/>
                </a:solidFill>
                <a:latin typeface="Instrument Sans Medium" pitchFamily="34" charset="0"/>
                <a:ea typeface="Instrument Sans Medium" pitchFamily="34" charset="-122"/>
                <a:cs typeface="Instrument Sans Medium" pitchFamily="34" charset="-120"/>
              </a:rPr>
            </a:br>
            <a:r>
              <a:rPr lang="en-US" sz="3600" b="1" u="sng" dirty="0" smtClean="0">
                <a:solidFill>
                  <a:srgbClr val="FF0000"/>
                </a:solidFill>
                <a:latin typeface="Instrument Sans Medium" pitchFamily="34" charset="0"/>
                <a:ea typeface="Instrument Sans Medium" pitchFamily="34" charset="-122"/>
                <a:cs typeface="Instrument Sans Medium" pitchFamily="34" charset="-120"/>
              </a:rPr>
              <a:t>Center </a:t>
            </a:r>
            <a:r>
              <a:rPr lang="en-US" sz="3600" b="1" u="sng" dirty="0">
                <a:solidFill>
                  <a:srgbClr val="FF0000"/>
                </a:solidFill>
                <a:latin typeface="Instrument Sans Medium" pitchFamily="34" charset="0"/>
                <a:ea typeface="Instrument Sans Medium" pitchFamily="34" charset="-122"/>
                <a:cs typeface="Instrument Sans Medium" pitchFamily="34" charset="-120"/>
              </a:rPr>
              <a:t>Traffic Routing</a:t>
            </a:r>
            <a:endParaRPr lang="en-US" sz="3600" b="1" u="sng" dirty="0">
              <a:solidFill>
                <a:srgbClr val="FF0000"/>
              </a:solidFill>
            </a:endParaRPr>
          </a:p>
        </p:txBody>
      </p:sp>
      <p:sp>
        <p:nvSpPr>
          <p:cNvPr id="3" name="Subtitle 2"/>
          <p:cNvSpPr>
            <a:spLocks noGrp="1"/>
          </p:cNvSpPr>
          <p:nvPr>
            <p:ph type="subTitle" idx="1"/>
          </p:nvPr>
        </p:nvSpPr>
        <p:spPr>
          <a:xfrm>
            <a:off x="4270160" y="3513524"/>
            <a:ext cx="4551284" cy="1396014"/>
          </a:xfrm>
        </p:spPr>
        <p:txBody>
          <a:bodyPr/>
          <a:lstStyle/>
          <a:p>
            <a:r>
              <a:rPr lang="en-US" sz="2800" b="1" u="sng" dirty="0">
                <a:solidFill>
                  <a:srgbClr val="0070C0"/>
                </a:solidFill>
              </a:rPr>
              <a:t>Team Members</a:t>
            </a:r>
          </a:p>
          <a:p>
            <a:pPr marL="171450">
              <a:lnSpc>
                <a:spcPct val="107000"/>
              </a:lnSpc>
              <a:spcAft>
                <a:spcPts val="800"/>
              </a:spcAft>
            </a:pPr>
            <a:r>
              <a:rPr lang="en-US" sz="1800" dirty="0" smtClean="0">
                <a:solidFill>
                  <a:srgbClr val="0070C0"/>
                </a:solidFill>
                <a:latin typeface="Arial" panose="020B0604020202020204" pitchFamily="34" charset="0"/>
                <a:cs typeface="Arial" panose="020B0604020202020204" pitchFamily="34" charset="0"/>
              </a:rPr>
              <a:t>Name</a:t>
            </a:r>
            <a:r>
              <a:rPr lang="en-US" sz="1800" dirty="0">
                <a:solidFill>
                  <a:srgbClr val="0070C0"/>
                </a:solidFill>
                <a:latin typeface="Arial" panose="020B0604020202020204" pitchFamily="34" charset="0"/>
                <a:cs typeface="Arial" panose="020B0604020202020204" pitchFamily="34" charset="0"/>
              </a:rPr>
              <a:t>: </a:t>
            </a:r>
            <a:r>
              <a:rPr lang="en-US" sz="1800" dirty="0" smtClean="0">
                <a:solidFill>
                  <a:srgbClr val="0070C0"/>
                </a:solidFill>
                <a:latin typeface="Arial" panose="020B0604020202020204" pitchFamily="34" charset="0"/>
                <a:cs typeface="Arial" panose="020B0604020202020204" pitchFamily="34" charset="0"/>
              </a:rPr>
              <a:t>Sai kiran - 2520030125</a:t>
            </a:r>
          </a:p>
          <a:p>
            <a:pPr marL="171450">
              <a:lnSpc>
                <a:spcPct val="107000"/>
              </a:lnSpc>
              <a:spcAft>
                <a:spcPts val="800"/>
              </a:spcAft>
            </a:pPr>
            <a:r>
              <a:rPr lang="en-US" sz="1800" dirty="0" smtClean="0">
                <a:solidFill>
                  <a:srgbClr val="0070C0"/>
                </a:solidFill>
                <a:latin typeface="Arial" panose="020B0604020202020204" pitchFamily="34" charset="0"/>
                <a:cs typeface="Arial" panose="020B0604020202020204" pitchFamily="34" charset="0"/>
              </a:rPr>
              <a:t>Name: Harshith - 2520030393</a:t>
            </a:r>
          </a:p>
          <a:p>
            <a:pPr marL="171450">
              <a:lnSpc>
                <a:spcPct val="107000"/>
              </a:lnSpc>
              <a:spcAft>
                <a:spcPts val="800"/>
              </a:spcAft>
            </a:pPr>
            <a:r>
              <a:rPr lang="en-US" sz="1800" kern="0" dirty="0" smtClean="0">
                <a:solidFill>
                  <a:srgbClr val="0070C0"/>
                </a:solidFill>
                <a:effectLst/>
                <a:latin typeface="Arial" panose="020B0604020202020204" pitchFamily="34" charset="0"/>
                <a:ea typeface="Times New Roman" panose="02020603050405020304" pitchFamily="18" charset="0"/>
                <a:cs typeface="Arial" panose="020B0604020202020204" pitchFamily="34" charset="0"/>
              </a:rPr>
              <a:t>Name</a:t>
            </a:r>
            <a:r>
              <a:rPr lang="en-US" sz="1800" kern="0" dirty="0">
                <a:solidFill>
                  <a:srgbClr val="0070C0"/>
                </a:solidFill>
                <a:latin typeface="Arial" panose="020B0604020202020204" pitchFamily="34" charset="0"/>
                <a:ea typeface="Times New Roman" panose="02020603050405020304" pitchFamily="18" charset="0"/>
                <a:cs typeface="Arial" panose="020B0604020202020204" pitchFamily="34" charset="0"/>
              </a:rPr>
              <a:t>: </a:t>
            </a:r>
            <a:r>
              <a:rPr lang="en-US" sz="1800" kern="0" dirty="0" smtClean="0">
                <a:solidFill>
                  <a:srgbClr val="0070C0"/>
                </a:solidFill>
                <a:latin typeface="Arial" panose="020B0604020202020204" pitchFamily="34" charset="0"/>
                <a:ea typeface="Times New Roman" panose="02020603050405020304" pitchFamily="18" charset="0"/>
                <a:cs typeface="Arial" panose="020B0604020202020204" pitchFamily="34" charset="0"/>
              </a:rPr>
              <a:t>SATHVIK - 2520030226</a:t>
            </a:r>
            <a:endParaRPr lang="en-US"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US" sz="1800" dirty="0" err="1"/>
              <a:t>Swathi</a:t>
            </a:r>
            <a:r>
              <a:rPr lang="en-US" sz="1800" dirty="0"/>
              <a:t> </a:t>
            </a:r>
            <a:r>
              <a:rPr lang="en-US" sz="1800" dirty="0" smtClean="0"/>
              <a:t>D, </a:t>
            </a:r>
            <a:r>
              <a:rPr lang="en-US" sz="1800" dirty="0"/>
              <a:t>Computer Science Engineering</a:t>
            </a:r>
            <a:r>
              <a:rPr lang="en-US" sz="1800" b="1" kern="0" dirty="0" smtClea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090041" y="220718"/>
            <a:ext cx="6258911" cy="693682"/>
          </a:xfrm>
          <a:prstGeom prst="roundRect">
            <a:avLst/>
          </a:prstGeom>
          <a:solidFill>
            <a:srgbClr val="C00000"/>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dirty="0" smtClean="0">
                <a:solidFill>
                  <a:schemeClr val="bg1"/>
                </a:solidFill>
              </a:rPr>
              <a:t>Contents</a:t>
            </a:r>
            <a:endParaRPr lang="en-US" b="1" dirty="0">
              <a:solidFill>
                <a:schemeClr val="bg1"/>
              </a:solidFill>
            </a:endParaRPr>
          </a:p>
        </p:txBody>
      </p:sp>
      <p:sp>
        <p:nvSpPr>
          <p:cNvPr id="6" name="Google Shape;89;p2"/>
          <p:cNvSpPr txBox="1"/>
          <p:nvPr/>
        </p:nvSpPr>
        <p:spPr>
          <a:xfrm>
            <a:off x="3090041" y="1169055"/>
            <a:ext cx="6936386" cy="583557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rgbClr val="232A32"/>
              </a:buClr>
              <a:buSzPts val="2200"/>
              <a:buFont typeface="Arial"/>
              <a:buChar char="•"/>
            </a:pPr>
            <a:r>
              <a:rPr lang="en-US" sz="2200" b="0" dirty="0">
                <a:solidFill>
                  <a:srgbClr val="232A32"/>
                </a:solidFill>
                <a:latin typeface="Arial"/>
                <a:ea typeface="Arial"/>
                <a:cs typeface="Arial"/>
                <a:sym typeface="Arial"/>
              </a:rPr>
              <a:t>1. Abstract</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2. Introduction</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3. Literature Survey</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4. Problem Statement &amp; Objectives</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5. Flow Chart</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6. Results</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7. Hardware &amp; Software Requirements</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8. Conclusion</a:t>
            </a:r>
            <a:r>
              <a:rPr lang="en-US" sz="1800" dirty="0">
                <a:solidFill>
                  <a:schemeClr val="dk1"/>
                </a:solidFill>
                <a:latin typeface="Calibri"/>
                <a:ea typeface="Calibri"/>
                <a:cs typeface="Calibri"/>
                <a:sym typeface="Calibri"/>
              </a:rPr>
              <a:t/>
            </a:r>
            <a:br>
              <a:rPr lang="en-US" sz="1800" dirty="0">
                <a:solidFill>
                  <a:schemeClr val="dk1"/>
                </a:solidFill>
                <a:latin typeface="Calibri"/>
                <a:ea typeface="Calibri"/>
                <a:cs typeface="Calibri"/>
                <a:sym typeface="Calibri"/>
              </a:rPr>
            </a:br>
            <a:r>
              <a:rPr lang="en-US" sz="2200" b="0" dirty="0">
                <a:solidFill>
                  <a:srgbClr val="232A32"/>
                </a:solidFill>
                <a:latin typeface="Arial"/>
                <a:ea typeface="Arial"/>
                <a:cs typeface="Arial"/>
                <a:sym typeface="Arial"/>
              </a:rPr>
              <a:t>9. Future Scope</a:t>
            </a:r>
            <a:endParaRPr dirty="0"/>
          </a:p>
        </p:txBody>
      </p:sp>
    </p:spTree>
    <p:extLst>
      <p:ext uri="{BB962C8B-B14F-4D97-AF65-F5344CB8AC3E}">
        <p14:creationId xmlns:p14="http://schemas.microsoft.com/office/powerpoint/2010/main" val="2525919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Rounded Rectangle 3"/>
          <p:cNvSpPr/>
          <p:nvPr/>
        </p:nvSpPr>
        <p:spPr>
          <a:xfrm>
            <a:off x="413486" y="995632"/>
            <a:ext cx="5377714" cy="244124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360363" y="994987"/>
            <a:ext cx="5451994" cy="2441249"/>
          </a:xfrm>
          <a:prstGeom prst="round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459204" y="3759854"/>
            <a:ext cx="5331996" cy="2451759"/>
          </a:xfrm>
          <a:prstGeom prst="round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Comparative empirical benchmarking of execution speedup and memory footprint reduction between Dinic's Algorithm and Edmonds–Karp across large sparse graphs.</a:t>
            </a:r>
          </a:p>
        </p:txBody>
      </p:sp>
      <p:sp>
        <p:nvSpPr>
          <p:cNvPr id="8" name="Rounded Rectangle 7"/>
          <p:cNvSpPr/>
          <p:nvPr/>
        </p:nvSpPr>
        <p:spPr>
          <a:xfrm>
            <a:off x="6354059" y="3759854"/>
            <a:ext cx="5458297" cy="24517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03;p3"/>
          <p:cNvSpPr/>
          <p:nvPr/>
        </p:nvSpPr>
        <p:spPr>
          <a:xfrm>
            <a:off x="6308341" y="994986"/>
            <a:ext cx="45719" cy="244124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 name="Google Shape;103;p3"/>
          <p:cNvSpPr/>
          <p:nvPr/>
        </p:nvSpPr>
        <p:spPr>
          <a:xfrm>
            <a:off x="6319099" y="3759853"/>
            <a:ext cx="45719" cy="2451761"/>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 name="Google Shape;103;p3"/>
          <p:cNvSpPr/>
          <p:nvPr/>
        </p:nvSpPr>
        <p:spPr>
          <a:xfrm>
            <a:off x="413484" y="994986"/>
            <a:ext cx="45719" cy="2441249"/>
          </a:xfrm>
          <a:prstGeom prst="rect">
            <a:avLst/>
          </a:prstGeom>
          <a:solidFill>
            <a:srgbClr val="0069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103;p3"/>
          <p:cNvSpPr/>
          <p:nvPr/>
        </p:nvSpPr>
        <p:spPr>
          <a:xfrm>
            <a:off x="427571" y="3759853"/>
            <a:ext cx="45719" cy="2518116"/>
          </a:xfrm>
          <a:prstGeom prst="rect">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Rectangle 4"/>
          <p:cNvSpPr/>
          <p:nvPr/>
        </p:nvSpPr>
        <p:spPr>
          <a:xfrm>
            <a:off x="764208" y="1130066"/>
            <a:ext cx="3042426" cy="394138"/>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r>
              <a:rPr lang="en-US" sz="2000" b="1" u="sng" dirty="0" smtClean="0">
                <a:solidFill>
                  <a:srgbClr val="0070C0"/>
                </a:solidFill>
              </a:rPr>
              <a:t>Problem Statement</a:t>
            </a:r>
            <a:endParaRPr lang="en-US" sz="2000" b="1" u="sng" dirty="0">
              <a:solidFill>
                <a:srgbClr val="0070C0"/>
              </a:solidFill>
            </a:endParaRPr>
          </a:p>
        </p:txBody>
      </p:sp>
      <p:sp>
        <p:nvSpPr>
          <p:cNvPr id="14" name="Rectangle 13"/>
          <p:cNvSpPr/>
          <p:nvPr/>
        </p:nvSpPr>
        <p:spPr>
          <a:xfrm>
            <a:off x="6699494" y="1119576"/>
            <a:ext cx="3042426" cy="394138"/>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r>
              <a:rPr lang="en-US" sz="2000" b="1" u="sng" dirty="0" smtClean="0">
                <a:solidFill>
                  <a:schemeClr val="accent2"/>
                </a:solidFill>
              </a:rPr>
              <a:t>Solution</a:t>
            </a:r>
            <a:endParaRPr lang="en-US" sz="2000" b="1" u="sng" dirty="0">
              <a:solidFill>
                <a:schemeClr val="accent2"/>
              </a:solidFill>
            </a:endParaRPr>
          </a:p>
        </p:txBody>
      </p:sp>
      <p:sp>
        <p:nvSpPr>
          <p:cNvPr id="15" name="Rectangle 14"/>
          <p:cNvSpPr/>
          <p:nvPr/>
        </p:nvSpPr>
        <p:spPr>
          <a:xfrm>
            <a:off x="693682" y="3826209"/>
            <a:ext cx="3755855" cy="394138"/>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r>
              <a:rPr lang="en-US" sz="2000" b="1" u="sng" dirty="0" smtClean="0">
                <a:solidFill>
                  <a:srgbClr val="7030A0"/>
                </a:solidFill>
              </a:rPr>
              <a:t>Input &amp; Output Demonstration</a:t>
            </a:r>
            <a:endParaRPr lang="en-US" sz="2000" b="1" u="sng" dirty="0">
              <a:solidFill>
                <a:srgbClr val="7030A0"/>
              </a:solidFill>
            </a:endParaRPr>
          </a:p>
        </p:txBody>
      </p:sp>
      <p:sp>
        <p:nvSpPr>
          <p:cNvPr id="16" name="Rectangle 15"/>
          <p:cNvSpPr/>
          <p:nvPr/>
        </p:nvSpPr>
        <p:spPr>
          <a:xfrm>
            <a:off x="6489501" y="3826209"/>
            <a:ext cx="3042426" cy="394138"/>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r>
              <a:rPr lang="en-US" sz="2000" b="1" u="sng" dirty="0" smtClean="0">
                <a:solidFill>
                  <a:schemeClr val="tx1"/>
                </a:solidFill>
              </a:rPr>
              <a:t>Analysis Statement</a:t>
            </a:r>
            <a:endParaRPr lang="en-US" sz="2000" b="1" u="sng" dirty="0">
              <a:solidFill>
                <a:schemeClr val="tx1"/>
              </a:solidFill>
            </a:endParaRPr>
          </a:p>
        </p:txBody>
      </p:sp>
      <p:sp>
        <p:nvSpPr>
          <p:cNvPr id="17" name="Rectangle 1"/>
          <p:cNvSpPr>
            <a:spLocks noChangeArrowheads="1"/>
          </p:cNvSpPr>
          <p:nvPr/>
        </p:nvSpPr>
        <p:spPr bwMode="auto">
          <a:xfrm>
            <a:off x="664706" y="1781748"/>
            <a:ext cx="4947818"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Google Sans Text"/>
              </a:rPr>
              <a:t>Modern cloud data centers and Content Delivery Networks (CDNs) face bandwidth congestion and high runtime overhead when computing maximum flow on large, sparse topologies using traditional single-path algorithms like Edmonds–Karp ($O(V E^2)$).</a:t>
            </a: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
        <p:nvSpPr>
          <p:cNvPr id="18" name="Rectangle 2"/>
          <p:cNvSpPr>
            <a:spLocks noChangeArrowheads="1"/>
          </p:cNvSpPr>
          <p:nvPr/>
        </p:nvSpPr>
        <p:spPr bwMode="auto">
          <a:xfrm>
            <a:off x="6598877" y="1686248"/>
            <a:ext cx="5213480"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Google Sans Text"/>
              </a:rPr>
              <a:t>A high-performance Network Flow Optimization Engine using Dinic’s Algorithm ($O(V^2 E)$). It features a hand-built Forward-Star array layout </a:t>
            </a:r>
            <a:r>
              <a:rPr kumimoji="0" lang="en-US" sz="2000" b="0" i="0" u="none" strike="noStrike" cap="none" normalizeH="0" baseline="0" dirty="0" smtClean="0">
                <a:ln>
                  <a:noFill/>
                </a:ln>
                <a:solidFill>
                  <a:schemeClr val="accent2"/>
                </a:solidFill>
                <a:effectLst/>
                <a:latin typeface="Google Sans Text"/>
              </a:rPr>
              <a:t>(</a:t>
            </a:r>
            <a:r>
              <a:rPr kumimoji="0" lang="en-US" b="0" i="0" u="none" strike="noStrike" cap="none" normalizeH="0" baseline="0" dirty="0" smtClean="0">
                <a:ln>
                  <a:noFill/>
                </a:ln>
                <a:solidFill>
                  <a:schemeClr val="accent2"/>
                </a:solidFill>
                <a:effectLst/>
                <a:latin typeface="Google Sans Text"/>
              </a:rPr>
              <a:t>head[]</a:t>
            </a:r>
            <a:r>
              <a:rPr kumimoji="0" lang="en-US" sz="1400" b="0" i="0" u="none" strike="noStrike" cap="none" normalizeH="0" baseline="0" dirty="0" smtClean="0">
                <a:ln>
                  <a:noFill/>
                </a:ln>
                <a:solidFill>
                  <a:schemeClr val="accent2"/>
                </a:solidFill>
                <a:effectLst/>
                <a:latin typeface="Google Sans Text"/>
              </a:rPr>
              <a:t>, </a:t>
            </a:r>
            <a:r>
              <a:rPr kumimoji="0" lang="en-US" b="0" i="0" u="none" strike="noStrike" cap="none" normalizeH="0" baseline="0" dirty="0" smtClean="0">
                <a:ln>
                  <a:noFill/>
                </a:ln>
                <a:solidFill>
                  <a:schemeClr val="accent2"/>
                </a:solidFill>
                <a:effectLst/>
                <a:latin typeface="Google Sans Text"/>
              </a:rPr>
              <a:t>to[]</a:t>
            </a:r>
            <a:r>
              <a:rPr kumimoji="0" lang="en-US" sz="1400" b="0" i="0" u="none" strike="noStrike" cap="none" normalizeH="0" baseline="0" dirty="0" smtClean="0">
                <a:ln>
                  <a:noFill/>
                </a:ln>
                <a:solidFill>
                  <a:schemeClr val="accent2"/>
                </a:solidFill>
                <a:effectLst/>
                <a:latin typeface="Google Sans Text"/>
              </a:rPr>
              <a:t>, </a:t>
            </a:r>
            <a:r>
              <a:rPr kumimoji="0" lang="en-US" b="0" i="0" u="none" strike="noStrike" cap="none" normalizeH="0" baseline="0" dirty="0" smtClean="0">
                <a:ln>
                  <a:noFill/>
                </a:ln>
                <a:solidFill>
                  <a:schemeClr val="accent2"/>
                </a:solidFill>
                <a:effectLst/>
                <a:latin typeface="Google Sans Text"/>
              </a:rPr>
              <a:t>next[]</a:t>
            </a:r>
            <a:r>
              <a:rPr kumimoji="0" lang="en-US" sz="1400" b="0" i="0" u="none" strike="noStrike" cap="none" normalizeH="0" baseline="0" dirty="0" smtClean="0">
                <a:ln>
                  <a:noFill/>
                </a:ln>
                <a:solidFill>
                  <a:schemeClr val="accent2"/>
                </a:solidFill>
                <a:effectLst/>
                <a:latin typeface="Google Sans Text"/>
              </a:rPr>
              <a:t>, </a:t>
            </a:r>
            <a:r>
              <a:rPr kumimoji="0" lang="en-US" b="0" i="0" u="none" strike="noStrike" cap="none" normalizeH="0" baseline="0" dirty="0" smtClean="0">
                <a:ln>
                  <a:noFill/>
                </a:ln>
                <a:solidFill>
                  <a:schemeClr val="accent2"/>
                </a:solidFill>
                <a:effectLst/>
                <a:latin typeface="Google Sans Text"/>
              </a:rPr>
              <a:t>capacity[]</a:t>
            </a:r>
            <a:r>
              <a:rPr kumimoji="0" lang="en-US" sz="1400" b="0" i="0" u="none" strike="noStrike" cap="none" normalizeH="0" baseline="0" dirty="0" smtClean="0">
                <a:ln>
                  <a:noFill/>
                </a:ln>
                <a:solidFill>
                  <a:schemeClr val="accent2"/>
                </a:solidFill>
                <a:effectLst/>
                <a:latin typeface="Google Sans Text"/>
              </a:rPr>
              <a:t>, </a:t>
            </a:r>
            <a:r>
              <a:rPr kumimoji="0" lang="en-US" b="0" i="0" u="none" strike="noStrike" cap="none" normalizeH="0" baseline="0" dirty="0" smtClean="0">
                <a:ln>
                  <a:noFill/>
                </a:ln>
                <a:solidFill>
                  <a:schemeClr val="accent2"/>
                </a:solidFill>
                <a:effectLst/>
                <a:latin typeface="Google Sans Text"/>
              </a:rPr>
              <a:t>flow[]</a:t>
            </a:r>
            <a:r>
              <a:rPr kumimoji="0" lang="en-US" sz="1400" b="0" i="0" u="none" strike="noStrike" cap="none" normalizeH="0" baseline="0" dirty="0" smtClean="0">
                <a:ln>
                  <a:noFill/>
                </a:ln>
                <a:solidFill>
                  <a:schemeClr val="accent2"/>
                </a:solidFill>
                <a:effectLst/>
                <a:latin typeface="Google Sans Text"/>
              </a:rPr>
              <a:t>, </a:t>
            </a:r>
            <a:r>
              <a:rPr kumimoji="0" lang="en-US" b="0" i="0" u="none" strike="noStrike" cap="none" normalizeH="0" baseline="0" dirty="0" err="1" smtClean="0">
                <a:ln>
                  <a:noFill/>
                </a:ln>
                <a:solidFill>
                  <a:schemeClr val="accent2"/>
                </a:solidFill>
                <a:effectLst/>
                <a:latin typeface="Google Sans Text"/>
              </a:rPr>
              <a:t>ptr</a:t>
            </a:r>
            <a:r>
              <a:rPr kumimoji="0" lang="en-US" b="0" i="0" u="none" strike="noStrike" cap="none" normalizeH="0" baseline="0" dirty="0" smtClean="0">
                <a:ln>
                  <a:noFill/>
                </a:ln>
                <a:solidFill>
                  <a:schemeClr val="accent2"/>
                </a:solidFill>
                <a:effectLst/>
                <a:latin typeface="Google Sans Text"/>
              </a:rPr>
              <a:t>[]</a:t>
            </a:r>
            <a:r>
              <a:rPr kumimoji="0" lang="en-US" sz="2000" b="0" i="0" u="none" strike="noStrike" cap="none" normalizeH="0" baseline="0" dirty="0" smtClean="0">
                <a:ln>
                  <a:noFill/>
                </a:ln>
                <a:solidFill>
                  <a:schemeClr val="accent2"/>
                </a:solidFill>
                <a:effectLst/>
                <a:latin typeface="Google Sans Text"/>
              </a:rPr>
              <a:t>)</a:t>
            </a:r>
            <a:r>
              <a:rPr kumimoji="0" lang="en-US" sz="1400" b="0" i="0" u="none" strike="noStrike" cap="none" normalizeH="0" baseline="0" dirty="0" smtClean="0">
                <a:ln>
                  <a:noFill/>
                </a:ln>
                <a:solidFill>
                  <a:schemeClr val="accent2"/>
                </a:solidFill>
                <a:effectLst/>
                <a:latin typeface="Google Sans Text"/>
              </a:rPr>
              <a:t> </a:t>
            </a:r>
            <a:r>
              <a:rPr kumimoji="0" lang="en-US" sz="1600" b="0" i="0" u="none" strike="noStrike" cap="none" normalizeH="0" baseline="0" dirty="0" smtClean="0">
                <a:ln>
                  <a:noFill/>
                </a:ln>
                <a:solidFill>
                  <a:schemeClr val="tx1"/>
                </a:solidFill>
                <a:effectLst/>
                <a:latin typeface="Google Sans Text"/>
              </a:rPr>
              <a:t>without </a:t>
            </a:r>
            <a:r>
              <a:rPr kumimoji="0" lang="en-US" sz="1600" b="0" i="0" u="none" strike="noStrike" cap="none" normalizeH="0" baseline="0" dirty="0" smtClean="0">
                <a:ln>
                  <a:noFill/>
                </a:ln>
                <a:solidFill>
                  <a:schemeClr val="accent2"/>
                </a:solidFill>
                <a:effectLst/>
                <a:latin typeface="Google Sans Text"/>
              </a:rPr>
              <a:t>java.util.* </a:t>
            </a:r>
            <a:r>
              <a:rPr kumimoji="0" lang="en-US" sz="1600" b="0" i="0" u="none" strike="noStrike" cap="none" normalizeH="0" baseline="0" dirty="0" smtClean="0">
                <a:ln>
                  <a:noFill/>
                </a:ln>
                <a:solidFill>
                  <a:schemeClr val="tx1"/>
                </a:solidFill>
                <a:effectLst/>
                <a:latin typeface="Google Sans Text"/>
              </a:rPr>
              <a:t>dependencies to optimize CPU cache locality, custom BFS array queues, and batch blocking-flow DFS pushes</a:t>
            </a: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18"/>
          <p:cNvSpPr/>
          <p:nvPr/>
        </p:nvSpPr>
        <p:spPr>
          <a:xfrm>
            <a:off x="6598877" y="4343745"/>
            <a:ext cx="4849648" cy="1077218"/>
          </a:xfrm>
          <a:prstGeom prst="rect">
            <a:avLst/>
          </a:prstGeom>
        </p:spPr>
        <p:txBody>
          <a:bodyPr wrap="square">
            <a:spAutoFit/>
          </a:bodyPr>
          <a:lstStyle/>
          <a:p>
            <a:r>
              <a:rPr lang="en-US" sz="1600" dirty="0"/>
              <a:t>Comparative empirical benchmarking of execution speedup and memory footprint reduction between Dinic's Algorithm and Edmonds–Karp across large sparse graphs.</a:t>
            </a:r>
          </a:p>
        </p:txBody>
      </p:sp>
      <p:sp>
        <p:nvSpPr>
          <p:cNvPr id="20" name="Rectangle 19"/>
          <p:cNvSpPr/>
          <p:nvPr/>
        </p:nvSpPr>
        <p:spPr>
          <a:xfrm>
            <a:off x="479313" y="4250931"/>
            <a:ext cx="5311887" cy="584775"/>
          </a:xfrm>
          <a:prstGeom prst="rect">
            <a:avLst/>
          </a:prstGeom>
        </p:spPr>
        <p:txBody>
          <a:bodyPr wrap="square">
            <a:spAutoFit/>
          </a:bodyPr>
          <a:lstStyle/>
          <a:p>
            <a:r>
              <a:rPr lang="en-US" sz="1600" b="1" u="sng" dirty="0"/>
              <a:t>Input</a:t>
            </a:r>
            <a:r>
              <a:rPr lang="en-US" sz="1600" dirty="0"/>
              <a:t>: Network topology graphs (up to 10,000+ nodes) and live data streaming bandwidth configurations in Mbps/</a:t>
            </a:r>
            <a:r>
              <a:rPr lang="en-US" sz="1600" dirty="0" err="1"/>
              <a:t>Gbps</a:t>
            </a:r>
            <a:r>
              <a:rPr lang="en-US" sz="1600" dirty="0"/>
              <a:t>.</a:t>
            </a:r>
          </a:p>
        </p:txBody>
      </p:sp>
      <p:sp>
        <p:nvSpPr>
          <p:cNvPr id="21" name="Rectangle 3"/>
          <p:cNvSpPr>
            <a:spLocks noChangeArrowheads="1"/>
          </p:cNvSpPr>
          <p:nvPr/>
        </p:nvSpPr>
        <p:spPr bwMode="auto">
          <a:xfrm>
            <a:off x="602982" y="5010982"/>
            <a:ext cx="5044440" cy="90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1" i="0" u="sng" strike="noStrike" cap="none" normalizeH="0" baseline="0" dirty="0" smtClean="0">
                <a:ln>
                  <a:noFill/>
                </a:ln>
                <a:solidFill>
                  <a:schemeClr val="tx1"/>
                </a:solidFill>
                <a:effectLst/>
                <a:latin typeface="Google Sans Text"/>
              </a:rPr>
              <a:t>Output</a:t>
            </a:r>
            <a:r>
              <a:rPr kumimoji="0" lang="en-US" sz="1400" b="0" i="0" u="none" strike="noStrike" cap="none" normalizeH="0" baseline="0" dirty="0" smtClean="0">
                <a:ln>
                  <a:noFill/>
                </a:ln>
                <a:solidFill>
                  <a:schemeClr val="tx1"/>
                </a:solidFill>
                <a:effectLst/>
                <a:latin typeface="Google Sans Text"/>
              </a:rPr>
              <a:t>: Real-time visual tracking of step-by-step execution—including BFS level graphs ($L_0, L_1, \dots, </a:t>
            </a:r>
            <a:r>
              <a:rPr kumimoji="0" lang="en-US" sz="1400" b="0" i="0" u="none" strike="noStrike" cap="none" normalizeH="0" baseline="0" dirty="0" err="1" smtClean="0">
                <a:ln>
                  <a:noFill/>
                </a:ln>
                <a:solidFill>
                  <a:schemeClr val="tx1"/>
                </a:solidFill>
                <a:effectLst/>
                <a:latin typeface="Google Sans Text"/>
              </a:rPr>
              <a:t>L_k</a:t>
            </a:r>
            <a:r>
              <a:rPr kumimoji="0" lang="en-US" sz="1400" b="0" i="0" u="none" strike="noStrike" cap="none" normalizeH="0" baseline="0" dirty="0" smtClean="0">
                <a:ln>
                  <a:noFill/>
                </a:ln>
                <a:solidFill>
                  <a:schemeClr val="tx1"/>
                </a:solidFill>
                <a:effectLst/>
                <a:latin typeface="Google Sans Text"/>
              </a:rPr>
              <a:t>$), DFS blocking flows, and the Max-Flow Min-Cut boundary that isolates physical link bottlenecks.</a:t>
            </a:r>
            <a:endParaRPr kumimoji="0" 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24225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Rectangle 4"/>
          <p:cNvSpPr/>
          <p:nvPr/>
        </p:nvSpPr>
        <p:spPr>
          <a:xfrm>
            <a:off x="137160" y="2708255"/>
            <a:ext cx="6096000" cy="1891287"/>
          </a:xfrm>
          <a:prstGeom prst="rect">
            <a:avLst/>
          </a:prstGeom>
        </p:spPr>
        <p:txBody>
          <a:bodyPr>
            <a:spAutoFit/>
          </a:bodyPr>
          <a:lstStyle/>
          <a:p>
            <a:pPr>
              <a:lnSpc>
                <a:spcPct val="150000"/>
              </a:lnSpc>
            </a:pPr>
            <a:r>
              <a:rPr lang="en-US" sz="2000" b="1" u="sng" dirty="0"/>
              <a:t>Background</a:t>
            </a:r>
            <a:r>
              <a:rPr lang="en-US" sz="2000" u="sng" dirty="0"/>
              <a:t>:</a:t>
            </a:r>
            <a:r>
              <a:rPr lang="en-US" sz="2000" dirty="0"/>
              <a:t> </a:t>
            </a:r>
            <a:r>
              <a:rPr lang="en-US" sz="2000" dirty="0" smtClean="0"/>
              <a:t>Modern </a:t>
            </a:r>
            <a:r>
              <a:rPr lang="en-US" sz="2000" dirty="0"/>
              <a:t>cloud Content Delivery Networks (CDNs) require high-throughput routing, but traditional algorithms like Dijkstra cannot load-balance across parallel channels.</a:t>
            </a:r>
          </a:p>
        </p:txBody>
      </p:sp>
      <p:sp>
        <p:nvSpPr>
          <p:cNvPr id="6" name="Rectangle 2"/>
          <p:cNvSpPr>
            <a:spLocks noChangeArrowheads="1"/>
          </p:cNvSpPr>
          <p:nvPr/>
        </p:nvSpPr>
        <p:spPr bwMode="auto">
          <a:xfrm>
            <a:off x="3048001" y="1122815"/>
            <a:ext cx="3459480" cy="1241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sz="1800" b="1" i="0" u="sng" strike="noStrike" cap="none" normalizeH="0" baseline="0" dirty="0" smtClean="0">
                <a:ln>
                  <a:noFill/>
                </a:ln>
                <a:solidFill>
                  <a:schemeClr val="tx1"/>
                </a:solidFill>
                <a:effectLst/>
                <a:latin typeface="Google Sans Text"/>
              </a:rPr>
              <a:t>Core Limitation</a:t>
            </a:r>
            <a:r>
              <a:rPr kumimoji="0" lang="en-US" sz="1800" b="0" i="0" u="sng" strike="noStrike" cap="none" normalizeH="0" baseline="0" dirty="0" smtClean="0">
                <a:ln>
                  <a:noFill/>
                </a:ln>
                <a:solidFill>
                  <a:schemeClr val="tx1"/>
                </a:solidFill>
                <a:effectLst/>
                <a:latin typeface="Google Sans Text"/>
              </a:rPr>
              <a:t>:</a:t>
            </a:r>
            <a:r>
              <a:rPr kumimoji="0" lang="en-US" sz="1800" b="0" i="0" strike="noStrike" cap="none" normalizeH="0" baseline="0" dirty="0" smtClean="0">
                <a:ln>
                  <a:noFill/>
                </a:ln>
                <a:solidFill>
                  <a:schemeClr val="tx1"/>
                </a:solidFill>
                <a:effectLst/>
                <a:latin typeface="Google Sans Text"/>
              </a:rPr>
              <a:t> </a:t>
            </a:r>
            <a:r>
              <a:rPr kumimoji="0" lang="en-US" sz="1800" b="0" i="0" u="none" strike="noStrike" cap="none" normalizeH="0" baseline="0" dirty="0" smtClean="0">
                <a:ln>
                  <a:noFill/>
                </a:ln>
                <a:solidFill>
                  <a:schemeClr val="tx1"/>
                </a:solidFill>
                <a:effectLst/>
                <a:latin typeface="Google Sans Text"/>
              </a:rPr>
              <a:t>Edmonds–Karp (O(VE^2)) causes high overhead due to single-path augmentations.</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p:nvPr/>
        </p:nvSpPr>
        <p:spPr>
          <a:xfrm>
            <a:off x="215669" y="4801710"/>
            <a:ext cx="6096000" cy="1429622"/>
          </a:xfrm>
          <a:prstGeom prst="rect">
            <a:avLst/>
          </a:prstGeom>
        </p:spPr>
        <p:txBody>
          <a:bodyPr>
            <a:spAutoFit/>
          </a:bodyPr>
          <a:lstStyle/>
          <a:p>
            <a:pPr>
              <a:lnSpc>
                <a:spcPct val="150000"/>
              </a:lnSpc>
            </a:pPr>
            <a:r>
              <a:rPr lang="en-US" sz="2000" b="1" u="sng" dirty="0"/>
              <a:t>Key Features</a:t>
            </a:r>
            <a:r>
              <a:rPr lang="en-US" sz="2000" u="sng" dirty="0"/>
              <a:t>:</a:t>
            </a:r>
            <a:r>
              <a:rPr lang="en-US" sz="2000" dirty="0"/>
              <a:t> A dual-mode architecture combining a large-scale graph benchmarker with an interactive CDN Traffic Simulator for real-time bottleneck analysis.</a:t>
            </a:r>
          </a:p>
        </p:txBody>
      </p:sp>
      <p:sp>
        <p:nvSpPr>
          <p:cNvPr id="9" name="Rounded Rectangle 8"/>
          <p:cNvSpPr/>
          <p:nvPr/>
        </p:nvSpPr>
        <p:spPr>
          <a:xfrm>
            <a:off x="7367846" y="975360"/>
            <a:ext cx="4549833" cy="1732895"/>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123;p4"/>
          <p:cNvSpPr/>
          <p:nvPr/>
        </p:nvSpPr>
        <p:spPr>
          <a:xfrm>
            <a:off x="7358703" y="975360"/>
            <a:ext cx="45719" cy="1732895"/>
          </a:xfrm>
          <a:prstGeom prst="rect">
            <a:avLst/>
          </a:prstGeom>
          <a:solidFill>
            <a:srgbClr val="0069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 name="Rectangle 10"/>
          <p:cNvSpPr/>
          <p:nvPr/>
        </p:nvSpPr>
        <p:spPr>
          <a:xfrm>
            <a:off x="7528560" y="1053456"/>
            <a:ext cx="3535680" cy="5029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900" b="1" dirty="0" smtClean="0">
                <a:solidFill>
                  <a:srgbClr val="0070C0"/>
                </a:solidFill>
              </a:rPr>
              <a:t>Web Architecture</a:t>
            </a:r>
            <a:endParaRPr lang="en-US" sz="1900" b="1" dirty="0">
              <a:solidFill>
                <a:srgbClr val="0070C0"/>
              </a:solidFill>
            </a:endParaRPr>
          </a:p>
        </p:txBody>
      </p:sp>
      <p:sp>
        <p:nvSpPr>
          <p:cNvPr id="12" name="Google Shape;125;p4"/>
          <p:cNvSpPr txBox="1"/>
          <p:nvPr/>
        </p:nvSpPr>
        <p:spPr>
          <a:xfrm>
            <a:off x="7528560" y="1540728"/>
            <a:ext cx="4251960" cy="886392"/>
          </a:xfrm>
          <a:prstGeom prst="rect">
            <a:avLst/>
          </a:prstGeom>
          <a:noFill/>
          <a:ln>
            <a:noFill/>
          </a:ln>
        </p:spPr>
        <p:txBody>
          <a:bodyPr spcFirstLastPara="1" wrap="square" lIns="73150" tIns="73150" rIns="73150" bIns="73150" anchor="t" anchorCtr="0">
            <a:spAutoFit/>
          </a:bodyPr>
          <a:lstStyle/>
          <a:p>
            <a:pPr lvl="0"/>
            <a:r>
              <a:rPr lang="en-US" sz="1600" b="0" dirty="0">
                <a:solidFill>
                  <a:srgbClr val="232A32"/>
                </a:solidFill>
                <a:latin typeface="Arial"/>
                <a:ea typeface="Arial"/>
                <a:cs typeface="Arial"/>
                <a:sym typeface="Arial"/>
              </a:rPr>
              <a:t>Input </a:t>
            </a:r>
            <a:r>
              <a:rPr lang="en-US" sz="1600" b="0" dirty="0" smtClean="0">
                <a:solidFill>
                  <a:srgbClr val="232A32"/>
                </a:solidFill>
                <a:latin typeface="Arial"/>
                <a:ea typeface="Arial"/>
                <a:cs typeface="Arial"/>
                <a:sym typeface="Arial"/>
              </a:rPr>
              <a:t>files/folders </a:t>
            </a:r>
            <a:r>
              <a:rPr lang="en-US" sz="1600" b="0" dirty="0">
                <a:solidFill>
                  <a:srgbClr val="232A32"/>
                </a:solidFill>
                <a:latin typeface="Arial"/>
                <a:ea typeface="Arial"/>
                <a:cs typeface="Arial"/>
                <a:sym typeface="Arial"/>
              </a:rPr>
              <a:t>→ </a:t>
            </a:r>
            <a:r>
              <a:rPr lang="en-US" sz="1600" dirty="0" smtClean="0">
                <a:solidFill>
                  <a:srgbClr val="232A32"/>
                </a:solidFill>
                <a:latin typeface="Arial"/>
                <a:ea typeface="Arial"/>
                <a:cs typeface="Arial"/>
                <a:sym typeface="Arial"/>
              </a:rPr>
              <a:t>Analysis</a:t>
            </a:r>
            <a:r>
              <a:rPr lang="en-US" sz="1600" b="0" dirty="0" smtClean="0">
                <a:solidFill>
                  <a:srgbClr val="232A32"/>
                </a:solidFill>
                <a:latin typeface="Arial"/>
                <a:ea typeface="Arial"/>
                <a:cs typeface="Arial"/>
                <a:sym typeface="Arial"/>
              </a:rPr>
              <a:t> of Data </a:t>
            </a:r>
            <a:r>
              <a:rPr lang="en-US" sz="1600" b="0" dirty="0">
                <a:solidFill>
                  <a:srgbClr val="232A32"/>
                </a:solidFill>
                <a:latin typeface="Arial"/>
                <a:ea typeface="Arial"/>
                <a:cs typeface="Arial"/>
                <a:sym typeface="Arial"/>
              </a:rPr>
              <a:t>→ </a:t>
            </a:r>
            <a:r>
              <a:rPr lang="en-US" sz="1600" b="0" dirty="0" smtClean="0">
                <a:solidFill>
                  <a:srgbClr val="232A32"/>
                </a:solidFill>
                <a:latin typeface="Arial"/>
                <a:ea typeface="Arial"/>
                <a:cs typeface="Arial"/>
                <a:sym typeface="Arial"/>
              </a:rPr>
              <a:t>Raw binary data → Transporting through fiber </a:t>
            </a:r>
            <a:r>
              <a:rPr lang="en-US" sz="1600" dirty="0">
                <a:solidFill>
                  <a:srgbClr val="232A32"/>
                </a:solidFill>
                <a:latin typeface="Arial"/>
                <a:ea typeface="Arial"/>
                <a:cs typeface="Arial"/>
                <a:sym typeface="Arial"/>
              </a:rPr>
              <a:t>cables →</a:t>
            </a:r>
            <a:r>
              <a:rPr lang="en-US" sz="1600" b="0" dirty="0" smtClean="0">
                <a:solidFill>
                  <a:srgbClr val="232A32"/>
                </a:solidFill>
                <a:latin typeface="Arial"/>
                <a:ea typeface="Arial"/>
                <a:cs typeface="Arial"/>
                <a:sym typeface="Wingdings" panose="05000000000000000000" pitchFamily="2" charset="2"/>
              </a:rPr>
              <a:t> </a:t>
            </a:r>
            <a:r>
              <a:rPr lang="en-US" sz="1600" b="0" dirty="0" smtClean="0">
                <a:solidFill>
                  <a:srgbClr val="232A32"/>
                </a:solidFill>
                <a:latin typeface="Arial"/>
                <a:ea typeface="Arial"/>
                <a:cs typeface="Arial"/>
                <a:sym typeface="Arial"/>
              </a:rPr>
              <a:t>Data </a:t>
            </a:r>
            <a:r>
              <a:rPr lang="en-US" sz="1600" b="0" dirty="0" err="1" smtClean="0">
                <a:solidFill>
                  <a:srgbClr val="232A32"/>
                </a:solidFill>
                <a:latin typeface="Arial"/>
                <a:ea typeface="Arial"/>
                <a:cs typeface="Arial"/>
                <a:sym typeface="Arial"/>
              </a:rPr>
              <a:t>centres</a:t>
            </a:r>
            <a:r>
              <a:rPr lang="en-US" sz="1600" b="0" dirty="0" smtClean="0">
                <a:solidFill>
                  <a:srgbClr val="232A32"/>
                </a:solidFill>
                <a:latin typeface="Arial"/>
                <a:ea typeface="Arial"/>
                <a:cs typeface="Arial"/>
                <a:sym typeface="Arial"/>
              </a:rPr>
              <a:t> </a:t>
            </a:r>
            <a:r>
              <a:rPr lang="en-US" sz="1600" b="0" dirty="0">
                <a:solidFill>
                  <a:srgbClr val="232A32"/>
                </a:solidFill>
                <a:latin typeface="Arial"/>
                <a:ea typeface="Arial"/>
                <a:cs typeface="Arial"/>
                <a:sym typeface="Arial"/>
              </a:rPr>
              <a:t>→ Results Dashboard</a:t>
            </a:r>
            <a:endParaRPr dirty="0"/>
          </a:p>
        </p:txBody>
      </p:sp>
      <p:sp>
        <p:nvSpPr>
          <p:cNvPr id="14" name="Rounded Rectangle 13"/>
          <p:cNvSpPr/>
          <p:nvPr/>
        </p:nvSpPr>
        <p:spPr>
          <a:xfrm>
            <a:off x="7437212" y="3864054"/>
            <a:ext cx="4251960" cy="1707990"/>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131;p4"/>
          <p:cNvSpPr/>
          <p:nvPr/>
        </p:nvSpPr>
        <p:spPr>
          <a:xfrm>
            <a:off x="7387591" y="3864054"/>
            <a:ext cx="45719" cy="1707990"/>
          </a:xfrm>
          <a:prstGeom prst="rect">
            <a:avLst/>
          </a:prstGeom>
          <a:solidFill>
            <a:srgbClr val="C2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 name="Rectangle 15"/>
          <p:cNvSpPr/>
          <p:nvPr/>
        </p:nvSpPr>
        <p:spPr>
          <a:xfrm>
            <a:off x="7665855" y="3904901"/>
            <a:ext cx="2529840" cy="4382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900" dirty="0" smtClean="0">
                <a:solidFill>
                  <a:srgbClr val="C00000"/>
                </a:solidFill>
              </a:rPr>
              <a:t>User Experience</a:t>
            </a:r>
            <a:endParaRPr lang="en-US" sz="1900" dirty="0">
              <a:solidFill>
                <a:srgbClr val="C00000"/>
              </a:solidFill>
            </a:endParaRPr>
          </a:p>
        </p:txBody>
      </p:sp>
      <p:sp>
        <p:nvSpPr>
          <p:cNvPr id="17" name="Google Shape;137;p4"/>
          <p:cNvSpPr txBox="1"/>
          <p:nvPr/>
        </p:nvSpPr>
        <p:spPr>
          <a:xfrm>
            <a:off x="7586285" y="4343159"/>
            <a:ext cx="3953814" cy="1148003"/>
          </a:xfrm>
          <a:prstGeom prst="rect">
            <a:avLst/>
          </a:prstGeom>
          <a:noFill/>
          <a:ln>
            <a:noFill/>
          </a:ln>
        </p:spPr>
        <p:txBody>
          <a:bodyPr spcFirstLastPara="1" wrap="square" lIns="73150" tIns="73150" rIns="73150" bIns="73150" anchor="t" anchorCtr="0">
            <a:spAutoFit/>
          </a:bodyPr>
          <a:lstStyle/>
          <a:p>
            <a:pPr marL="0" marR="0" lvl="0" indent="0" algn="l" rtl="0">
              <a:spcBef>
                <a:spcPts val="0"/>
              </a:spcBef>
              <a:spcAft>
                <a:spcPts val="0"/>
              </a:spcAft>
              <a:buNone/>
            </a:pPr>
            <a:r>
              <a:rPr lang="en-US" sz="1300" b="0" dirty="0" smtClean="0">
                <a:solidFill>
                  <a:srgbClr val="232A32"/>
                </a:solidFill>
                <a:latin typeface="Arial"/>
                <a:ea typeface="Arial"/>
                <a:cs typeface="Arial"/>
                <a:sym typeface="Arial"/>
              </a:rPr>
              <a:t>The user will insert files and folders in this and the system will convert it into raw data and show how the data is being sent and received from the user and the data centers this process continues as a loop non stop</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504797" y="187903"/>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Rounded Rectangle 3"/>
          <p:cNvSpPr/>
          <p:nvPr/>
        </p:nvSpPr>
        <p:spPr>
          <a:xfrm>
            <a:off x="423138" y="2937939"/>
            <a:ext cx="3858108" cy="1772849"/>
          </a:xfrm>
          <a:prstGeom prst="roundRect">
            <a:avLst>
              <a:gd name="adj" fmla="val 50000"/>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242157" y="4611739"/>
            <a:ext cx="3971008" cy="1772849"/>
          </a:xfrm>
          <a:prstGeom prst="roundRect">
            <a:avLst>
              <a:gd name="adj" fmla="val 50000"/>
            </a:avLst>
          </a:prstGeom>
          <a:solidFill>
            <a:schemeClr val="bg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213165" y="2952247"/>
            <a:ext cx="3792337" cy="1772849"/>
          </a:xfrm>
          <a:prstGeom prst="roundRect">
            <a:avLst>
              <a:gd name="adj" fmla="val 50000"/>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4281246" y="1034274"/>
            <a:ext cx="3931920" cy="1772849"/>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540326" y="1394918"/>
            <a:ext cx="3413760" cy="1051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buFontTx/>
              <a:buChar char="•"/>
            </a:pPr>
            <a:r>
              <a:rPr lang="en-US" sz="1600" b="1" u="sng" dirty="0">
                <a:solidFill>
                  <a:srgbClr val="0070C0"/>
                </a:solidFill>
                <a:latin typeface="Google Sans Text"/>
              </a:rPr>
              <a:t>Ford–Fulkerson Method (1956): </a:t>
            </a:r>
            <a:r>
              <a:rPr lang="en-US" sz="1600" dirty="0">
                <a:solidFill>
                  <a:schemeClr val="tx1"/>
                </a:solidFill>
                <a:latin typeface="Google Sans Text"/>
              </a:rPr>
              <a:t>Introduced residual graphs and augmenting paths, but $O(E \</a:t>
            </a:r>
            <a:r>
              <a:rPr lang="en-US" sz="1600" dirty="0" err="1">
                <a:solidFill>
                  <a:schemeClr val="tx1"/>
                </a:solidFill>
                <a:latin typeface="Google Sans Text"/>
              </a:rPr>
              <a:t>cdot</a:t>
            </a:r>
            <a:r>
              <a:rPr lang="en-US" sz="1600" dirty="0">
                <a:solidFill>
                  <a:schemeClr val="tx1"/>
                </a:solidFill>
                <a:latin typeface="Google Sans Text"/>
              </a:rPr>
              <a:t> F)$ complexity is inefficient for large capacities. </a:t>
            </a:r>
          </a:p>
        </p:txBody>
      </p:sp>
      <p:sp>
        <p:nvSpPr>
          <p:cNvPr id="13" name="Rectangle 12"/>
          <p:cNvSpPr/>
          <p:nvPr/>
        </p:nvSpPr>
        <p:spPr>
          <a:xfrm>
            <a:off x="732635" y="3176951"/>
            <a:ext cx="3548611" cy="1323439"/>
          </a:xfrm>
          <a:prstGeom prst="rect">
            <a:avLst/>
          </a:prstGeom>
        </p:spPr>
        <p:txBody>
          <a:bodyPr wrap="square">
            <a:spAutoFit/>
          </a:bodyPr>
          <a:lstStyle/>
          <a:p>
            <a:r>
              <a:rPr lang="en-US" sz="1600" b="1" u="sng" dirty="0">
                <a:solidFill>
                  <a:srgbClr val="FFC000"/>
                </a:solidFill>
                <a:latin typeface="Google Sans Text"/>
              </a:rPr>
              <a:t>Edmonds–Karp Algorithm (1972)</a:t>
            </a:r>
            <a:r>
              <a:rPr lang="en-US" sz="1600" u="sng" dirty="0">
                <a:solidFill>
                  <a:srgbClr val="FFC000"/>
                </a:solidFill>
                <a:latin typeface="Google Sans Text"/>
              </a:rPr>
              <a:t>: </a:t>
            </a:r>
            <a:r>
              <a:rPr lang="en-US" sz="1600" dirty="0">
                <a:latin typeface="Google Sans Text"/>
              </a:rPr>
              <a:t>Uses BFS for shortest path finding </a:t>
            </a:r>
            <a:r>
              <a:rPr lang="en-US" sz="1600" dirty="0" smtClean="0">
                <a:latin typeface="Google Sans Text"/>
              </a:rPr>
              <a:t>(O(VE^2)), </a:t>
            </a:r>
            <a:r>
              <a:rPr lang="en-US" sz="1600" dirty="0">
                <a:latin typeface="Google Sans Text"/>
              </a:rPr>
              <a:t>but single-path updates cause high latency on large sparse networks</a:t>
            </a:r>
            <a:endParaRPr lang="en-US" sz="1600" dirty="0"/>
          </a:p>
        </p:txBody>
      </p:sp>
      <p:sp>
        <p:nvSpPr>
          <p:cNvPr id="14" name="Rectangle 13"/>
          <p:cNvSpPr/>
          <p:nvPr/>
        </p:nvSpPr>
        <p:spPr>
          <a:xfrm>
            <a:off x="8455891" y="3203891"/>
            <a:ext cx="3549611" cy="1323439"/>
          </a:xfrm>
          <a:prstGeom prst="rect">
            <a:avLst/>
          </a:prstGeom>
        </p:spPr>
        <p:txBody>
          <a:bodyPr wrap="square">
            <a:spAutoFit/>
          </a:bodyPr>
          <a:lstStyle/>
          <a:p>
            <a:pPr lvl="0" eaLnBrk="0" fontAlgn="base" hangingPunct="0">
              <a:spcBef>
                <a:spcPct val="0"/>
              </a:spcBef>
              <a:spcAft>
                <a:spcPct val="0"/>
              </a:spcAft>
              <a:buFontTx/>
              <a:buChar char="•"/>
            </a:pPr>
            <a:r>
              <a:rPr lang="en-US" sz="1600" b="1" u="sng" dirty="0">
                <a:solidFill>
                  <a:srgbClr val="C00000"/>
                </a:solidFill>
                <a:latin typeface="Google Sans Text"/>
              </a:rPr>
              <a:t>Dinic’s Algorithm (1970)</a:t>
            </a:r>
            <a:r>
              <a:rPr lang="en-US" sz="1600" u="sng" dirty="0">
                <a:solidFill>
                  <a:srgbClr val="C00000"/>
                </a:solidFill>
                <a:latin typeface="Google Sans Text"/>
              </a:rPr>
              <a:t>: </a:t>
            </a:r>
            <a:r>
              <a:rPr lang="en-US" sz="1600" dirty="0">
                <a:latin typeface="Google Sans Text"/>
              </a:rPr>
              <a:t>Uses Level Graphs (BFS) and Blocking Flows (DFS) to process paths in batch waves, reducing complexity to </a:t>
            </a:r>
            <a:r>
              <a:rPr lang="en-US" sz="1600" dirty="0" smtClean="0">
                <a:latin typeface="Google Sans Text"/>
              </a:rPr>
              <a:t>O(V^2E). </a:t>
            </a:r>
            <a:endParaRPr lang="en-US" sz="1600" dirty="0">
              <a:latin typeface="Google Sans Text"/>
            </a:endParaRPr>
          </a:p>
        </p:txBody>
      </p:sp>
      <p:sp>
        <p:nvSpPr>
          <p:cNvPr id="15" name="Rectangle 14"/>
          <p:cNvSpPr/>
          <p:nvPr/>
        </p:nvSpPr>
        <p:spPr>
          <a:xfrm>
            <a:off x="4540326" y="4962851"/>
            <a:ext cx="3554091" cy="830997"/>
          </a:xfrm>
          <a:prstGeom prst="rect">
            <a:avLst/>
          </a:prstGeom>
        </p:spPr>
        <p:txBody>
          <a:bodyPr wrap="square">
            <a:spAutoFit/>
          </a:bodyPr>
          <a:lstStyle/>
          <a:p>
            <a:pPr lvl="0" eaLnBrk="0" fontAlgn="base" hangingPunct="0">
              <a:spcBef>
                <a:spcPct val="0"/>
              </a:spcBef>
              <a:spcAft>
                <a:spcPct val="0"/>
              </a:spcAft>
              <a:buFontTx/>
              <a:buChar char="•"/>
            </a:pPr>
            <a:r>
              <a:rPr lang="en-US" sz="1600" b="1" u="sng" dirty="0">
                <a:solidFill>
                  <a:srgbClr val="FFFF00"/>
                </a:solidFill>
                <a:latin typeface="Google Sans Text"/>
              </a:rPr>
              <a:t>Data Center Systems Design</a:t>
            </a:r>
            <a:r>
              <a:rPr lang="en-US" sz="1600" u="sng" dirty="0">
                <a:solidFill>
                  <a:srgbClr val="FFFF00"/>
                </a:solidFill>
                <a:latin typeface="Google Sans Text"/>
              </a:rPr>
              <a:t>: </a:t>
            </a:r>
            <a:r>
              <a:rPr lang="en-US" sz="1600" dirty="0">
                <a:latin typeface="Google Sans Text"/>
              </a:rPr>
              <a:t>Modern cloud networks use flat primitive arrays over</a:t>
            </a:r>
            <a:endParaRPr lang="en-US" sz="1600"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ounded Rectangle 3"/>
          <p:cNvSpPr/>
          <p:nvPr/>
        </p:nvSpPr>
        <p:spPr>
          <a:xfrm>
            <a:off x="3137365" y="1209911"/>
            <a:ext cx="7086600" cy="1570833"/>
          </a:xfrm>
          <a:prstGeom prst="round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183086" y="1209911"/>
            <a:ext cx="6618303" cy="1508105"/>
          </a:xfrm>
          <a:prstGeom prst="rect">
            <a:avLst/>
          </a:prstGeom>
        </p:spPr>
        <p:txBody>
          <a:bodyPr wrap="square">
            <a:spAutoFit/>
          </a:bodyPr>
          <a:lstStyle/>
          <a:p>
            <a:pPr lvl="0" algn="ctr" eaLnBrk="0" fontAlgn="base" hangingPunct="0">
              <a:spcBef>
                <a:spcPct val="0"/>
              </a:spcBef>
              <a:spcAft>
                <a:spcPct val="0"/>
              </a:spcAft>
            </a:pPr>
            <a:r>
              <a:rPr lang="en-US" sz="2000" b="1" u="sng" dirty="0">
                <a:latin typeface="Google Sans Text"/>
              </a:rPr>
              <a:t>Problem Statement </a:t>
            </a:r>
            <a:endParaRPr lang="en-US" sz="2000" b="1" u="sng" dirty="0" smtClean="0">
              <a:latin typeface="Google Sans Text"/>
            </a:endParaRPr>
          </a:p>
          <a:p>
            <a:pPr lvl="0" eaLnBrk="0" fontAlgn="base" hangingPunct="0">
              <a:spcBef>
                <a:spcPct val="0"/>
              </a:spcBef>
              <a:spcAft>
                <a:spcPct val="0"/>
              </a:spcAft>
            </a:pPr>
            <a:r>
              <a:rPr lang="en-US" dirty="0" smtClean="0">
                <a:latin typeface="Google Sans Text"/>
              </a:rPr>
              <a:t>Shortest-path </a:t>
            </a:r>
            <a:r>
              <a:rPr lang="en-US" dirty="0">
                <a:latin typeface="Google Sans Text"/>
              </a:rPr>
              <a:t>algorithms (Dijkstra) cannot load-balance, while classic max-flow algorithms (Edmonds–Karp, $O(VE^2)$) process paths individually, creating high latency. Additionally, standard collections </a:t>
            </a:r>
            <a:endParaRPr lang="en-US" dirty="0">
              <a:latin typeface="Arial" panose="020B0604020202020204" pitchFamily="34" charset="0"/>
            </a:endParaRPr>
          </a:p>
        </p:txBody>
      </p:sp>
      <p:sp>
        <p:nvSpPr>
          <p:cNvPr id="8" name="Google Shape;171;p6"/>
          <p:cNvSpPr/>
          <p:nvPr/>
        </p:nvSpPr>
        <p:spPr>
          <a:xfrm>
            <a:off x="3068785" y="1209911"/>
            <a:ext cx="45719" cy="1570833"/>
          </a:xfrm>
          <a:prstGeom prst="rect">
            <a:avLst/>
          </a:prstGeom>
          <a:solidFill>
            <a:srgbClr val="0069B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Rounded Rectangle 8"/>
          <p:cNvSpPr/>
          <p:nvPr/>
        </p:nvSpPr>
        <p:spPr>
          <a:xfrm>
            <a:off x="502920" y="3113186"/>
            <a:ext cx="3474720" cy="1352134"/>
          </a:xfrm>
          <a:prstGeom prst="round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488680" y="3130982"/>
            <a:ext cx="3271053" cy="1356360"/>
          </a:xfrm>
          <a:prstGeom prst="round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4560231" y="3153213"/>
            <a:ext cx="3353473" cy="135636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4560230" y="5181600"/>
            <a:ext cx="3353473" cy="1356360"/>
          </a:xfrm>
          <a:prstGeom prst="round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Google Shape;171;p6"/>
          <p:cNvSpPr/>
          <p:nvPr/>
        </p:nvSpPr>
        <p:spPr>
          <a:xfrm>
            <a:off x="4537371" y="3130982"/>
            <a:ext cx="45719" cy="1356360"/>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171;p6"/>
          <p:cNvSpPr/>
          <p:nvPr/>
        </p:nvSpPr>
        <p:spPr>
          <a:xfrm flipH="1">
            <a:off x="464145" y="3059568"/>
            <a:ext cx="45719" cy="1405752"/>
          </a:xfrm>
          <a:prstGeom prst="rect">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 name="Google Shape;171;p6"/>
          <p:cNvSpPr/>
          <p:nvPr/>
        </p:nvSpPr>
        <p:spPr>
          <a:xfrm>
            <a:off x="8489377" y="3147443"/>
            <a:ext cx="45719" cy="13679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 name="Google Shape;171;p6"/>
          <p:cNvSpPr/>
          <p:nvPr/>
        </p:nvSpPr>
        <p:spPr>
          <a:xfrm>
            <a:off x="4514512" y="5181600"/>
            <a:ext cx="45719" cy="1356360"/>
          </a:xfrm>
          <a:prstGeom prst="rect">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 name="Rectangle 18"/>
          <p:cNvSpPr/>
          <p:nvPr/>
        </p:nvSpPr>
        <p:spPr>
          <a:xfrm>
            <a:off x="584665" y="3147443"/>
            <a:ext cx="2996735" cy="1323439"/>
          </a:xfrm>
          <a:prstGeom prst="rect">
            <a:avLst/>
          </a:prstGeom>
        </p:spPr>
        <p:txBody>
          <a:bodyPr wrap="square">
            <a:spAutoFit/>
          </a:bodyPr>
          <a:lstStyle/>
          <a:p>
            <a:pPr lvl="0" eaLnBrk="0" fontAlgn="base" hangingPunct="0">
              <a:spcBef>
                <a:spcPct val="0"/>
              </a:spcBef>
              <a:spcAft>
                <a:spcPct val="0"/>
              </a:spcAft>
              <a:buFontTx/>
              <a:buChar char="•"/>
            </a:pPr>
            <a:r>
              <a:rPr lang="en-US" sz="1600" b="1" u="sng" dirty="0">
                <a:solidFill>
                  <a:srgbClr val="92D050"/>
                </a:solidFill>
                <a:latin typeface="Google Sans Text"/>
              </a:rPr>
              <a:t>High-Performance Core </a:t>
            </a:r>
            <a:r>
              <a:rPr lang="en-US" sz="1600" b="1" dirty="0">
                <a:latin typeface="Google Sans Text"/>
              </a:rPr>
              <a:t>Engine</a:t>
            </a:r>
            <a:r>
              <a:rPr lang="en-US" sz="1600" dirty="0">
                <a:latin typeface="Google Sans Text"/>
              </a:rPr>
              <a:t>: Implement Dinic’s Algorithm ($O(V^2E)$) with Level Graphs and batch Blocking Flows. </a:t>
            </a:r>
          </a:p>
        </p:txBody>
      </p:sp>
      <p:sp>
        <p:nvSpPr>
          <p:cNvPr id="20" name="Rectangle 19"/>
          <p:cNvSpPr/>
          <p:nvPr/>
        </p:nvSpPr>
        <p:spPr>
          <a:xfrm>
            <a:off x="4638507" y="3189288"/>
            <a:ext cx="3275196" cy="1107996"/>
          </a:xfrm>
          <a:prstGeom prst="rect">
            <a:avLst/>
          </a:prstGeom>
        </p:spPr>
        <p:txBody>
          <a:bodyPr wrap="square">
            <a:spAutoFit/>
          </a:bodyPr>
          <a:lstStyle/>
          <a:p>
            <a:pPr lvl="0" eaLnBrk="0" fontAlgn="base" hangingPunct="0">
              <a:spcBef>
                <a:spcPct val="0"/>
              </a:spcBef>
              <a:spcAft>
                <a:spcPct val="0"/>
              </a:spcAft>
              <a:buFontTx/>
              <a:buChar char="•"/>
            </a:pPr>
            <a:r>
              <a:rPr lang="en-US" b="1" u="sng" dirty="0" smtClean="0">
                <a:latin typeface="Google Sans Text"/>
              </a:rPr>
              <a:t>Zero</a:t>
            </a:r>
            <a:r>
              <a:rPr lang="en-US" u="sng" dirty="0" smtClean="0">
                <a:latin typeface="Google Sans Text"/>
              </a:rPr>
              <a:t>:</a:t>
            </a:r>
            <a:r>
              <a:rPr lang="en-US" dirty="0" smtClean="0">
                <a:latin typeface="Google Sans Text"/>
              </a:rPr>
              <a:t> </a:t>
            </a:r>
            <a:r>
              <a:rPr lang="en-US" sz="1600" dirty="0">
                <a:latin typeface="Google Sans Text"/>
              </a:rPr>
              <a:t>Build Forward-Star arrays and custom queues using primitive arrays to maximize CPU cache locality. </a:t>
            </a:r>
            <a:endParaRPr lang="en-US" dirty="0">
              <a:latin typeface="Google Sans Text"/>
            </a:endParaRPr>
          </a:p>
        </p:txBody>
      </p:sp>
      <p:sp>
        <p:nvSpPr>
          <p:cNvPr id="21" name="Rectangle 20"/>
          <p:cNvSpPr/>
          <p:nvPr/>
        </p:nvSpPr>
        <p:spPr>
          <a:xfrm>
            <a:off x="8490045" y="3250644"/>
            <a:ext cx="3224637" cy="1077218"/>
          </a:xfrm>
          <a:prstGeom prst="rect">
            <a:avLst/>
          </a:prstGeom>
        </p:spPr>
        <p:txBody>
          <a:bodyPr wrap="square">
            <a:spAutoFit/>
          </a:bodyPr>
          <a:lstStyle/>
          <a:p>
            <a:pPr lvl="0" eaLnBrk="0" fontAlgn="base" hangingPunct="0">
              <a:spcBef>
                <a:spcPct val="0"/>
              </a:spcBef>
              <a:spcAft>
                <a:spcPct val="0"/>
              </a:spcAft>
              <a:buFontTx/>
              <a:buChar char="•"/>
            </a:pPr>
            <a:r>
              <a:rPr lang="en-US" sz="1600" b="1" u="sng" dirty="0">
                <a:solidFill>
                  <a:schemeClr val="accent4"/>
                </a:solidFill>
                <a:latin typeface="Google Sans Text"/>
              </a:rPr>
              <a:t>CDN Traffic Simulation</a:t>
            </a:r>
            <a:r>
              <a:rPr lang="en-US" sz="1600" u="sng" dirty="0">
                <a:solidFill>
                  <a:schemeClr val="accent4"/>
                </a:solidFill>
                <a:latin typeface="Google Sans Text"/>
              </a:rPr>
              <a:t>: </a:t>
            </a:r>
            <a:r>
              <a:rPr lang="en-US" sz="1600" dirty="0">
                <a:latin typeface="Google Sans Text"/>
              </a:rPr>
              <a:t>Create an interactive visual interface mapping theoretical networks to real-world traffic in Mbps/</a:t>
            </a:r>
            <a:r>
              <a:rPr lang="en-US" sz="1600" dirty="0" err="1">
                <a:latin typeface="Google Sans Text"/>
              </a:rPr>
              <a:t>Gbps</a:t>
            </a:r>
            <a:r>
              <a:rPr lang="en-US" sz="1600" dirty="0">
                <a:latin typeface="Google Sans Text"/>
              </a:rPr>
              <a:t>. </a:t>
            </a:r>
          </a:p>
        </p:txBody>
      </p:sp>
      <p:sp>
        <p:nvSpPr>
          <p:cNvPr id="22" name="Rectangle 21"/>
          <p:cNvSpPr/>
          <p:nvPr/>
        </p:nvSpPr>
        <p:spPr>
          <a:xfrm>
            <a:off x="4560230" y="5321171"/>
            <a:ext cx="3547451" cy="1077218"/>
          </a:xfrm>
          <a:prstGeom prst="rect">
            <a:avLst/>
          </a:prstGeom>
        </p:spPr>
        <p:txBody>
          <a:bodyPr wrap="square">
            <a:spAutoFit/>
          </a:bodyPr>
          <a:lstStyle/>
          <a:p>
            <a:pPr lvl="0" eaLnBrk="0" fontAlgn="base" hangingPunct="0">
              <a:spcBef>
                <a:spcPct val="0"/>
              </a:spcBef>
              <a:spcAft>
                <a:spcPct val="0"/>
              </a:spcAft>
              <a:buFontTx/>
              <a:buChar char="•"/>
            </a:pPr>
            <a:r>
              <a:rPr lang="en-US" sz="1600" b="1" u="sng" dirty="0">
                <a:solidFill>
                  <a:srgbClr val="7030A0"/>
                </a:solidFill>
                <a:latin typeface="Google Sans Text"/>
              </a:rPr>
              <a:t>Benchmarking &amp; Bottlenecks: </a:t>
            </a:r>
            <a:r>
              <a:rPr lang="en-US" sz="1600" dirty="0">
                <a:latin typeface="Google Sans Text"/>
              </a:rPr>
              <a:t>Isolate network constraints via Max-Flow Min-Cut and compare runtimes against Edmonds–Karp. </a:t>
            </a:r>
          </a:p>
        </p:txBody>
      </p:sp>
      <p:cxnSp>
        <p:nvCxnSpPr>
          <p:cNvPr id="24" name="Straight Connector 23"/>
          <p:cNvCxnSpPr>
            <a:stCxn id="9" idx="2"/>
            <a:endCxn id="12" idx="0"/>
          </p:cNvCxnSpPr>
          <p:nvPr/>
        </p:nvCxnSpPr>
        <p:spPr>
          <a:xfrm>
            <a:off x="2240280" y="4465320"/>
            <a:ext cx="3996687" cy="7162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1" idx="2"/>
            <a:endCxn id="12" idx="0"/>
          </p:cNvCxnSpPr>
          <p:nvPr/>
        </p:nvCxnSpPr>
        <p:spPr>
          <a:xfrm flipH="1">
            <a:off x="6236967" y="4509573"/>
            <a:ext cx="1" cy="672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0" idx="2"/>
            <a:endCxn id="12" idx="0"/>
          </p:cNvCxnSpPr>
          <p:nvPr/>
        </p:nvCxnSpPr>
        <p:spPr>
          <a:xfrm flipH="1">
            <a:off x="6236967" y="4487342"/>
            <a:ext cx="3887240" cy="69425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10266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400" y="1082040"/>
            <a:ext cx="4493491" cy="5120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8" name="Rectangle 2"/>
          <p:cNvSpPr>
            <a:spLocks noChangeArrowheads="1"/>
          </p:cNvSpPr>
          <p:nvPr/>
        </p:nvSpPr>
        <p:spPr bwMode="auto">
          <a:xfrm>
            <a:off x="2959743" y="1473799"/>
            <a:ext cx="8904598"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Google Sans Text"/>
              </a:rPr>
              <a:t>1. Algorithmic Scaling &amp; Batching Efficiency</a:t>
            </a:r>
            <a:endParaRPr kumimoji="0" 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Google Sans Text"/>
              </a:rPr>
              <a:t>The Paradigm Shift</a:t>
            </a:r>
            <a:r>
              <a:rPr kumimoji="0" lang="en-US" sz="1800" b="0" i="0" u="none" strike="noStrike" cap="none" normalizeH="0" baseline="0" dirty="0" smtClean="0">
                <a:ln>
                  <a:noFill/>
                </a:ln>
                <a:solidFill>
                  <a:schemeClr val="tx1"/>
                </a:solidFill>
                <a:effectLst/>
                <a:latin typeface="Google Sans Text"/>
              </a:rPr>
              <a:t>: Traditional algorithms like Edmonds–Karp (O(VE^2)) run a full BFS per path, creating massive O(VE) traversal overhead on sparse graphs. </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Google Sans Text"/>
              </a:rPr>
              <a:t>Dinic’s Advancement</a:t>
            </a:r>
            <a:r>
              <a:rPr kumimoji="0" lang="en-US" sz="1800" b="0" i="0" u="none" strike="noStrike" cap="none" normalizeH="0" baseline="0" dirty="0" smtClean="0">
                <a:ln>
                  <a:noFill/>
                </a:ln>
                <a:solidFill>
                  <a:schemeClr val="tx1"/>
                </a:solidFill>
                <a:effectLst/>
                <a:latin typeface="Google Sans Text"/>
              </a:rPr>
              <a:t>: Using BFS Level Graphs and DFS Batch Blocking Flows (O(V^2E)), Dinic’s engine achieves up to 15\times speedups over Edmonds–Karp on large topologies (V=10\text{k}, E \approx. 30\text{k}).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4"/>
          <p:cNvSpPr>
            <a:spLocks noChangeArrowheads="1"/>
          </p:cNvSpPr>
          <p:nvPr/>
        </p:nvSpPr>
        <p:spPr bwMode="auto">
          <a:xfrm>
            <a:off x="282762" y="4070140"/>
            <a:ext cx="11092403" cy="198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latin typeface="Google Sans Text"/>
              </a:rPr>
              <a:t>2</a:t>
            </a:r>
            <a:r>
              <a:rPr kumimoji="0" lang="en-US" sz="1800" b="1" i="0" u="none" strike="noStrike" cap="none" normalizeH="0" baseline="0" dirty="0" smtClean="0">
                <a:ln>
                  <a:noFill/>
                </a:ln>
                <a:solidFill>
                  <a:schemeClr val="tx1"/>
                </a:solidFill>
                <a:effectLst/>
                <a:latin typeface="Google Sans Text"/>
              </a:rPr>
              <a:t>. Real-World CDN &amp; Data Center Application</a:t>
            </a:r>
            <a:endParaRPr kumimoji="0" 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Google Sans Text"/>
              </a:rPr>
              <a:t>Multi-Path Load Balancing</a:t>
            </a:r>
            <a:r>
              <a:rPr kumimoji="0" lang="en-US" sz="1800" b="0" i="0" u="none" strike="noStrike" cap="none" normalizeH="0" baseline="0" dirty="0" smtClean="0">
                <a:ln>
                  <a:noFill/>
                </a:ln>
                <a:solidFill>
                  <a:schemeClr val="tx1"/>
                </a:solidFill>
                <a:effectLst/>
                <a:latin typeface="Google Sans Text"/>
              </a:rPr>
              <a:t>: Unlike shortest-path algorithms (e.g., Dijkstra) that over-saturate single routes, max-flow balances traffic across parallel channels. </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Google Sans Text"/>
              </a:rPr>
              <a:t>Min-Cut Infrastructure Diagnostics</a:t>
            </a:r>
            <a:r>
              <a:rPr kumimoji="0" lang="en-US" sz="1800" b="0" i="0" u="none" strike="noStrike" cap="none" normalizeH="0" baseline="0" dirty="0" smtClean="0">
                <a:ln>
                  <a:noFill/>
                </a:ln>
                <a:solidFill>
                  <a:schemeClr val="tx1"/>
                </a:solidFill>
                <a:effectLst/>
                <a:latin typeface="Google Sans Text"/>
              </a:rPr>
              <a:t>: The Minimum Cut boundary identifies fully saturated links (100% utilization), revealing exact fiber-optic bottlenecks for capacity upgrades.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0922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8" name="Rounded Rectangle 7"/>
          <p:cNvSpPr/>
          <p:nvPr/>
        </p:nvSpPr>
        <p:spPr>
          <a:xfrm>
            <a:off x="474940" y="1036885"/>
            <a:ext cx="5129048" cy="2317531"/>
          </a:xfrm>
          <a:prstGeom prst="roundRect">
            <a:avLst>
              <a:gd name="adj" fmla="val 28912"/>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6258910" y="3837312"/>
            <a:ext cx="5129048" cy="2317531"/>
          </a:xfrm>
          <a:prstGeom prst="roundRect">
            <a:avLst>
              <a:gd name="adj" fmla="val 28912"/>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346841" y="3748053"/>
            <a:ext cx="5129048" cy="2317531"/>
          </a:xfrm>
          <a:prstGeom prst="roundRect">
            <a:avLst>
              <a:gd name="adj" fmla="val 32313"/>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6258910" y="1072055"/>
            <a:ext cx="5129048" cy="2317531"/>
          </a:xfrm>
          <a:prstGeom prst="roundRect">
            <a:avLst>
              <a:gd name="adj" fmla="val 28912"/>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311604" y="1193445"/>
            <a:ext cx="1236236" cy="369332"/>
          </a:xfrm>
          <a:prstGeom prst="rect">
            <a:avLst/>
          </a:prstGeom>
        </p:spPr>
        <p:txBody>
          <a:bodyPr wrap="none">
            <a:spAutoFit/>
          </a:bodyPr>
          <a:lstStyle/>
          <a:p>
            <a:pPr lvl="0" algn="ctr" eaLnBrk="0" fontAlgn="base" hangingPunct="0">
              <a:spcBef>
                <a:spcPct val="0"/>
              </a:spcBef>
              <a:spcAft>
                <a:spcPct val="0"/>
              </a:spcAft>
            </a:pPr>
            <a:r>
              <a:rPr lang="en-US" b="1" u="sng" dirty="0">
                <a:solidFill>
                  <a:srgbClr val="FF0000"/>
                </a:solidFill>
                <a:latin typeface="Google Sans Text"/>
              </a:rPr>
              <a:t>Hardware</a:t>
            </a:r>
            <a:endParaRPr lang="en-US" b="1" u="sng" dirty="0">
              <a:solidFill>
                <a:srgbClr val="FF0000"/>
              </a:solidFill>
            </a:endParaRPr>
          </a:p>
        </p:txBody>
      </p:sp>
      <p:sp>
        <p:nvSpPr>
          <p:cNvPr id="19" name="Rectangle 18"/>
          <p:cNvSpPr/>
          <p:nvPr/>
        </p:nvSpPr>
        <p:spPr>
          <a:xfrm>
            <a:off x="481483" y="1713107"/>
            <a:ext cx="6096000" cy="1200329"/>
          </a:xfrm>
          <a:prstGeom prst="rect">
            <a:avLst/>
          </a:prstGeom>
        </p:spPr>
        <p:txBody>
          <a:bodyPr>
            <a:spAutoFit/>
          </a:bodyPr>
          <a:lstStyle/>
          <a:p>
            <a:pPr lvl="0" eaLnBrk="0" fontAlgn="base" hangingPunct="0">
              <a:spcBef>
                <a:spcPct val="0"/>
              </a:spcBef>
              <a:spcAft>
                <a:spcPct val="0"/>
              </a:spcAft>
              <a:buFontTx/>
              <a:buChar char="•"/>
            </a:pPr>
            <a:r>
              <a:rPr lang="en-US" b="1" dirty="0">
                <a:latin typeface="Google Sans Text"/>
              </a:rPr>
              <a:t>CPU</a:t>
            </a:r>
            <a:r>
              <a:rPr lang="en-US" dirty="0">
                <a:latin typeface="Google Sans Text"/>
              </a:rPr>
              <a:t>: Dual-Core 2.0 GHz+ (x86_64 / ARM64) </a:t>
            </a:r>
          </a:p>
          <a:p>
            <a:pPr lvl="0" eaLnBrk="0" fontAlgn="base" hangingPunct="0">
              <a:spcBef>
                <a:spcPct val="0"/>
              </a:spcBef>
              <a:spcAft>
                <a:spcPct val="0"/>
              </a:spcAft>
              <a:buFontTx/>
              <a:buChar char="•"/>
            </a:pPr>
            <a:r>
              <a:rPr lang="en-US" b="1" dirty="0">
                <a:latin typeface="Google Sans Text"/>
              </a:rPr>
              <a:t>RAM</a:t>
            </a:r>
            <a:r>
              <a:rPr lang="en-US" dirty="0">
                <a:latin typeface="Google Sans Text"/>
              </a:rPr>
              <a:t>: 4 GB min (8 GB for 10,000+ node testing) </a:t>
            </a:r>
          </a:p>
          <a:p>
            <a:pPr lvl="0" eaLnBrk="0" fontAlgn="base" hangingPunct="0">
              <a:spcBef>
                <a:spcPct val="0"/>
              </a:spcBef>
              <a:spcAft>
                <a:spcPct val="0"/>
              </a:spcAft>
              <a:buFontTx/>
              <a:buChar char="•"/>
            </a:pPr>
            <a:r>
              <a:rPr lang="en-US" b="1" dirty="0">
                <a:latin typeface="Google Sans Text"/>
              </a:rPr>
              <a:t>Storage</a:t>
            </a:r>
            <a:r>
              <a:rPr lang="en-US" dirty="0">
                <a:latin typeface="Google Sans Text"/>
              </a:rPr>
              <a:t>: 200 MB free </a:t>
            </a:r>
          </a:p>
          <a:p>
            <a:pPr lvl="0" eaLnBrk="0" fontAlgn="base" hangingPunct="0">
              <a:spcBef>
                <a:spcPct val="0"/>
              </a:spcBef>
              <a:spcAft>
                <a:spcPct val="0"/>
              </a:spcAft>
              <a:buFontTx/>
              <a:buChar char="•"/>
            </a:pPr>
            <a:r>
              <a:rPr lang="en-US" b="1" dirty="0">
                <a:latin typeface="Google Sans Text"/>
              </a:rPr>
              <a:t>Display</a:t>
            </a:r>
            <a:r>
              <a:rPr lang="en-US" dirty="0">
                <a:latin typeface="Google Sans Text"/>
              </a:rPr>
              <a:t>: 1080p (1920×1080) </a:t>
            </a:r>
          </a:p>
        </p:txBody>
      </p:sp>
      <p:sp>
        <p:nvSpPr>
          <p:cNvPr id="20" name="Rectangle 19"/>
          <p:cNvSpPr/>
          <p:nvPr/>
        </p:nvSpPr>
        <p:spPr>
          <a:xfrm>
            <a:off x="8243788" y="1129048"/>
            <a:ext cx="1159292" cy="369332"/>
          </a:xfrm>
          <a:prstGeom prst="rect">
            <a:avLst/>
          </a:prstGeom>
        </p:spPr>
        <p:txBody>
          <a:bodyPr wrap="none">
            <a:spAutoFit/>
          </a:bodyPr>
          <a:lstStyle/>
          <a:p>
            <a:pPr lvl="0" algn="ctr" eaLnBrk="0" fontAlgn="base" hangingPunct="0">
              <a:spcBef>
                <a:spcPct val="0"/>
              </a:spcBef>
              <a:spcAft>
                <a:spcPct val="0"/>
              </a:spcAft>
            </a:pPr>
            <a:r>
              <a:rPr lang="en-US" b="1" u="sng" dirty="0">
                <a:solidFill>
                  <a:srgbClr val="00B0F0"/>
                </a:solidFill>
                <a:latin typeface="Google Sans Text"/>
              </a:rPr>
              <a:t>Software</a:t>
            </a:r>
            <a:endParaRPr lang="en-US" u="sng" dirty="0">
              <a:solidFill>
                <a:srgbClr val="00B0F0"/>
              </a:solidFill>
            </a:endParaRPr>
          </a:p>
        </p:txBody>
      </p:sp>
      <p:sp>
        <p:nvSpPr>
          <p:cNvPr id="21" name="Rectangle 20"/>
          <p:cNvSpPr/>
          <p:nvPr/>
        </p:nvSpPr>
        <p:spPr>
          <a:xfrm>
            <a:off x="6355080" y="1496784"/>
            <a:ext cx="6096000" cy="1754326"/>
          </a:xfrm>
          <a:prstGeom prst="rect">
            <a:avLst/>
          </a:prstGeom>
        </p:spPr>
        <p:txBody>
          <a:bodyPr>
            <a:spAutoFit/>
          </a:bodyPr>
          <a:lstStyle/>
          <a:p>
            <a:pPr lvl="0" eaLnBrk="0" fontAlgn="base" hangingPunct="0">
              <a:spcBef>
                <a:spcPct val="0"/>
              </a:spcBef>
              <a:spcAft>
                <a:spcPct val="0"/>
              </a:spcAft>
              <a:buFontTx/>
              <a:buChar char="•"/>
            </a:pPr>
            <a:r>
              <a:rPr lang="en-US" b="1" dirty="0">
                <a:latin typeface="Google Sans Text"/>
              </a:rPr>
              <a:t>JDK</a:t>
            </a:r>
            <a:r>
              <a:rPr lang="en-US" dirty="0">
                <a:latin typeface="Google Sans Text"/>
              </a:rPr>
              <a:t>: 17+ (core strictly zero </a:t>
            </a:r>
          </a:p>
          <a:p>
            <a:pPr lvl="0" eaLnBrk="0" fontAlgn="base" hangingPunct="0">
              <a:spcBef>
                <a:spcPct val="0"/>
              </a:spcBef>
              <a:spcAft>
                <a:spcPct val="0"/>
              </a:spcAft>
              <a:buFontTx/>
              <a:buChar char="•"/>
            </a:pPr>
            <a:r>
              <a:rPr lang="en-US" b="1" dirty="0">
                <a:latin typeface="Google Sans Text"/>
              </a:rPr>
              <a:t>Build Tool</a:t>
            </a:r>
            <a:r>
              <a:rPr lang="en-US" dirty="0">
                <a:latin typeface="Google Sans Text"/>
              </a:rPr>
              <a:t>: Maven / </a:t>
            </a:r>
            <a:r>
              <a:rPr lang="en-US" dirty="0" err="1">
                <a:latin typeface="Google Sans Text"/>
              </a:rPr>
              <a:t>Gradle</a:t>
            </a:r>
            <a:r>
              <a:rPr lang="en-US" dirty="0">
                <a:latin typeface="Google Sans Text"/>
              </a:rPr>
              <a:t> </a:t>
            </a:r>
          </a:p>
          <a:p>
            <a:pPr lvl="0" eaLnBrk="0" fontAlgn="base" hangingPunct="0">
              <a:spcBef>
                <a:spcPct val="0"/>
              </a:spcBef>
              <a:spcAft>
                <a:spcPct val="0"/>
              </a:spcAft>
              <a:buFontTx/>
              <a:buChar char="•"/>
            </a:pPr>
            <a:r>
              <a:rPr lang="en-US" b="1" dirty="0">
                <a:latin typeface="Google Sans Text"/>
              </a:rPr>
              <a:t>UI</a:t>
            </a:r>
            <a:r>
              <a:rPr lang="en-US" dirty="0">
                <a:latin typeface="Google Sans Text"/>
              </a:rPr>
              <a:t>: </a:t>
            </a:r>
            <a:r>
              <a:rPr lang="en-US" dirty="0" err="1">
                <a:latin typeface="Google Sans Text"/>
              </a:rPr>
              <a:t>JavaFX</a:t>
            </a:r>
            <a:r>
              <a:rPr lang="en-US" dirty="0">
                <a:latin typeface="Google Sans Text"/>
              </a:rPr>
              <a:t> / Web Stack (HTML5 </a:t>
            </a:r>
            <a:r>
              <a:rPr lang="en-US" dirty="0" smtClean="0">
                <a:latin typeface="Google Sans Text"/>
              </a:rPr>
              <a:t>Canvas </a:t>
            </a:r>
            <a:r>
              <a:rPr lang="en-US" dirty="0">
                <a:latin typeface="Google Sans Text"/>
              </a:rPr>
              <a:t>+ JS </a:t>
            </a:r>
            <a:endParaRPr lang="en-US" dirty="0" smtClean="0">
              <a:latin typeface="Google Sans Text"/>
            </a:endParaRPr>
          </a:p>
          <a:p>
            <a:pPr lvl="0" eaLnBrk="0" fontAlgn="base" hangingPunct="0">
              <a:spcBef>
                <a:spcPct val="0"/>
              </a:spcBef>
              <a:spcAft>
                <a:spcPct val="0"/>
              </a:spcAft>
            </a:pPr>
            <a:r>
              <a:rPr lang="en-US" dirty="0" smtClean="0">
                <a:latin typeface="Google Sans Text"/>
              </a:rPr>
              <a:t>+ </a:t>
            </a:r>
            <a:r>
              <a:rPr lang="en-US" dirty="0">
                <a:latin typeface="Google Sans Text"/>
              </a:rPr>
              <a:t>Java backend) </a:t>
            </a:r>
          </a:p>
          <a:p>
            <a:pPr lvl="0" eaLnBrk="0" fontAlgn="base" hangingPunct="0">
              <a:spcBef>
                <a:spcPct val="0"/>
              </a:spcBef>
              <a:spcAft>
                <a:spcPct val="0"/>
              </a:spcAft>
              <a:buFontTx/>
              <a:buChar char="•"/>
            </a:pPr>
            <a:r>
              <a:rPr lang="en-US" b="1" dirty="0">
                <a:latin typeface="Google Sans Text"/>
              </a:rPr>
              <a:t>Benchmarking</a:t>
            </a:r>
            <a:r>
              <a:rPr lang="en-US" dirty="0">
                <a:latin typeface="Google Sans Text"/>
              </a:rPr>
              <a:t>: JMH / </a:t>
            </a:r>
            <a:endParaRPr lang="en-US" sz="800" dirty="0">
              <a:latin typeface="Google Sans Text"/>
            </a:endParaRPr>
          </a:p>
          <a:p>
            <a:pPr lvl="0" eaLnBrk="0" fontAlgn="base" hangingPunct="0">
              <a:spcBef>
                <a:spcPct val="0"/>
              </a:spcBef>
              <a:spcAft>
                <a:spcPct val="0"/>
              </a:spcAft>
              <a:buFontTx/>
              <a:buChar char="•"/>
            </a:pPr>
            <a:r>
              <a:rPr lang="en-US" b="1" dirty="0">
                <a:latin typeface="Google Sans Text"/>
              </a:rPr>
              <a:t>OS</a:t>
            </a:r>
            <a:r>
              <a:rPr lang="en-US" dirty="0">
                <a:latin typeface="Google Sans Text"/>
              </a:rPr>
              <a:t>: Windows, </a:t>
            </a:r>
            <a:r>
              <a:rPr lang="en-US" dirty="0" err="1">
                <a:latin typeface="Google Sans Text"/>
              </a:rPr>
              <a:t>macOS</a:t>
            </a:r>
            <a:r>
              <a:rPr lang="en-US" dirty="0">
                <a:latin typeface="Google Sans Text"/>
              </a:rPr>
              <a:t>, Linux </a:t>
            </a:r>
          </a:p>
        </p:txBody>
      </p:sp>
      <p:sp>
        <p:nvSpPr>
          <p:cNvPr id="22" name="Rectangle 21"/>
          <p:cNvSpPr/>
          <p:nvPr/>
        </p:nvSpPr>
        <p:spPr>
          <a:xfrm>
            <a:off x="1799522" y="3845972"/>
            <a:ext cx="2223686" cy="369332"/>
          </a:xfrm>
          <a:prstGeom prst="rect">
            <a:avLst/>
          </a:prstGeom>
        </p:spPr>
        <p:txBody>
          <a:bodyPr wrap="none">
            <a:spAutoFit/>
          </a:bodyPr>
          <a:lstStyle/>
          <a:p>
            <a:pPr lvl="0"/>
            <a:r>
              <a:rPr lang="en-US" b="1" u="sng" dirty="0">
                <a:solidFill>
                  <a:srgbClr val="228B5E"/>
                </a:solidFill>
                <a:latin typeface="Arial"/>
                <a:ea typeface="Arial"/>
                <a:cs typeface="Arial"/>
                <a:sym typeface="Arial"/>
              </a:rPr>
              <a:t>Project UI / Styling</a:t>
            </a:r>
            <a:endParaRPr lang="en-US" u="sng" dirty="0"/>
          </a:p>
        </p:txBody>
      </p:sp>
      <p:sp>
        <p:nvSpPr>
          <p:cNvPr id="24" name="Rectangle 23"/>
          <p:cNvSpPr/>
          <p:nvPr/>
        </p:nvSpPr>
        <p:spPr>
          <a:xfrm>
            <a:off x="346841" y="4313223"/>
            <a:ext cx="6096000" cy="1477328"/>
          </a:xfrm>
          <a:prstGeom prst="rect">
            <a:avLst/>
          </a:prstGeom>
        </p:spPr>
        <p:txBody>
          <a:bodyPr>
            <a:spAutoFit/>
          </a:bodyPr>
          <a:lstStyle/>
          <a:p>
            <a:pPr lvl="0"/>
            <a:r>
              <a:rPr lang="en-US" dirty="0">
                <a:solidFill>
                  <a:srgbClr val="232A32"/>
                </a:solidFill>
                <a:latin typeface="Arial"/>
                <a:ea typeface="Arial"/>
                <a:cs typeface="Arial"/>
                <a:sym typeface="Arial"/>
              </a:rPr>
              <a:t>• Inter and JetBrains Mono fonts</a:t>
            </a:r>
            <a:r>
              <a:rPr lang="en-US" sz="2000" dirty="0">
                <a:solidFill>
                  <a:schemeClr val="dk1"/>
                </a:solidFill>
                <a:ea typeface="Calibri"/>
                <a:cs typeface="Calibri"/>
                <a:sym typeface="Calibri"/>
              </a:rPr>
              <a:t/>
            </a:r>
            <a:br>
              <a:rPr lang="en-US" sz="2000" dirty="0">
                <a:solidFill>
                  <a:schemeClr val="dk1"/>
                </a:solidFill>
                <a:ea typeface="Calibri"/>
                <a:cs typeface="Calibri"/>
                <a:sym typeface="Calibri"/>
              </a:rPr>
            </a:br>
            <a:r>
              <a:rPr lang="en-US" dirty="0">
                <a:solidFill>
                  <a:srgbClr val="232A32"/>
                </a:solidFill>
                <a:latin typeface="Arial"/>
                <a:ea typeface="Arial"/>
                <a:cs typeface="Arial"/>
                <a:sym typeface="Arial"/>
              </a:rPr>
              <a:t>• Academic </a:t>
            </a:r>
            <a:r>
              <a:rPr lang="en-US" dirty="0" smtClean="0">
                <a:solidFill>
                  <a:srgbClr val="232A32"/>
                </a:solidFill>
                <a:latin typeface="Arial"/>
                <a:ea typeface="Arial"/>
                <a:cs typeface="Arial"/>
                <a:sym typeface="Arial"/>
              </a:rPr>
              <a:t>Green </a:t>
            </a:r>
            <a:r>
              <a:rPr lang="en-US" dirty="0">
                <a:solidFill>
                  <a:srgbClr val="232A32"/>
                </a:solidFill>
                <a:latin typeface="Arial"/>
                <a:ea typeface="Arial"/>
                <a:cs typeface="Arial"/>
                <a:sym typeface="Arial"/>
              </a:rPr>
              <a:t>&amp; </a:t>
            </a:r>
            <a:r>
              <a:rPr lang="en-US" dirty="0" smtClean="0">
                <a:solidFill>
                  <a:srgbClr val="232A32"/>
                </a:solidFill>
                <a:latin typeface="Arial"/>
                <a:ea typeface="Arial"/>
                <a:cs typeface="Arial"/>
                <a:sym typeface="Arial"/>
              </a:rPr>
              <a:t>Black </a:t>
            </a:r>
            <a:r>
              <a:rPr lang="en-US" dirty="0">
                <a:solidFill>
                  <a:srgbClr val="232A32"/>
                </a:solidFill>
                <a:latin typeface="Arial"/>
                <a:ea typeface="Arial"/>
                <a:cs typeface="Arial"/>
                <a:sym typeface="Arial"/>
              </a:rPr>
              <a:t>visual system in the </a:t>
            </a:r>
            <a:endParaRPr lang="en-US" dirty="0" smtClean="0">
              <a:solidFill>
                <a:srgbClr val="232A32"/>
              </a:solidFill>
              <a:latin typeface="Arial"/>
              <a:ea typeface="Arial"/>
              <a:cs typeface="Arial"/>
              <a:sym typeface="Arial"/>
            </a:endParaRPr>
          </a:p>
          <a:p>
            <a:pPr lvl="0"/>
            <a:r>
              <a:rPr lang="en-US" dirty="0">
                <a:solidFill>
                  <a:srgbClr val="232A32"/>
                </a:solidFill>
                <a:latin typeface="Arial"/>
                <a:ea typeface="Arial"/>
                <a:cs typeface="Arial"/>
                <a:sym typeface="Arial"/>
              </a:rPr>
              <a:t> </a:t>
            </a:r>
            <a:r>
              <a:rPr lang="en-US" dirty="0" smtClean="0">
                <a:solidFill>
                  <a:srgbClr val="232A32"/>
                </a:solidFill>
                <a:latin typeface="Arial"/>
                <a:ea typeface="Arial"/>
                <a:cs typeface="Arial"/>
                <a:sym typeface="Arial"/>
              </a:rPr>
              <a:t> website</a:t>
            </a:r>
            <a:r>
              <a:rPr lang="en-US" sz="2000" dirty="0">
                <a:solidFill>
                  <a:schemeClr val="dk1"/>
                </a:solidFill>
                <a:ea typeface="Calibri"/>
                <a:cs typeface="Calibri"/>
                <a:sym typeface="Calibri"/>
              </a:rPr>
              <a:t/>
            </a:r>
            <a:br>
              <a:rPr lang="en-US" sz="2000" dirty="0">
                <a:solidFill>
                  <a:schemeClr val="dk1"/>
                </a:solidFill>
                <a:ea typeface="Calibri"/>
                <a:cs typeface="Calibri"/>
                <a:sym typeface="Calibri"/>
              </a:rPr>
            </a:br>
            <a:r>
              <a:rPr lang="en-US" dirty="0">
                <a:solidFill>
                  <a:srgbClr val="232A32"/>
                </a:solidFill>
                <a:latin typeface="Arial"/>
                <a:ea typeface="Arial"/>
                <a:cs typeface="Arial"/>
                <a:sym typeface="Arial"/>
              </a:rPr>
              <a:t>• Responsive dashboard layout</a:t>
            </a:r>
            <a:r>
              <a:rPr lang="en-US" sz="2000" dirty="0">
                <a:solidFill>
                  <a:schemeClr val="dk1"/>
                </a:solidFill>
                <a:ea typeface="Calibri"/>
                <a:cs typeface="Calibri"/>
                <a:sym typeface="Calibri"/>
              </a:rPr>
              <a:t/>
            </a:r>
            <a:br>
              <a:rPr lang="en-US" sz="2000" dirty="0">
                <a:solidFill>
                  <a:schemeClr val="dk1"/>
                </a:solidFill>
                <a:ea typeface="Calibri"/>
                <a:cs typeface="Calibri"/>
                <a:sym typeface="Calibri"/>
              </a:rPr>
            </a:br>
            <a:r>
              <a:rPr lang="en-US" dirty="0">
                <a:solidFill>
                  <a:srgbClr val="232A32"/>
                </a:solidFill>
                <a:latin typeface="Arial"/>
                <a:ea typeface="Arial"/>
                <a:cs typeface="Arial"/>
                <a:sym typeface="Arial"/>
              </a:rPr>
              <a:t>• Local browser processing of input text</a:t>
            </a:r>
            <a:endParaRPr lang="en-US" dirty="0"/>
          </a:p>
        </p:txBody>
      </p:sp>
      <p:sp>
        <p:nvSpPr>
          <p:cNvPr id="25" name="Rectangle 24"/>
          <p:cNvSpPr/>
          <p:nvPr/>
        </p:nvSpPr>
        <p:spPr>
          <a:xfrm>
            <a:off x="7974483" y="4017384"/>
            <a:ext cx="1697901" cy="369332"/>
          </a:xfrm>
          <a:prstGeom prst="rect">
            <a:avLst/>
          </a:prstGeom>
        </p:spPr>
        <p:txBody>
          <a:bodyPr wrap="none">
            <a:spAutoFit/>
          </a:bodyPr>
          <a:lstStyle/>
          <a:p>
            <a:pPr lvl="0"/>
            <a:r>
              <a:rPr lang="en-US" b="1" u="sng" dirty="0" smtClean="0">
                <a:solidFill>
                  <a:srgbClr val="0069B4"/>
                </a:solidFill>
                <a:latin typeface="Arial"/>
                <a:ea typeface="Arial"/>
                <a:cs typeface="Arial"/>
                <a:sym typeface="Arial"/>
              </a:rPr>
              <a:t>Input </a:t>
            </a:r>
            <a:r>
              <a:rPr lang="en-US" b="1" u="sng" dirty="0">
                <a:solidFill>
                  <a:srgbClr val="0069B4"/>
                </a:solidFill>
                <a:latin typeface="Arial"/>
                <a:ea typeface="Arial"/>
                <a:cs typeface="Arial"/>
                <a:sym typeface="Arial"/>
              </a:rPr>
              <a:t>/ Output</a:t>
            </a:r>
            <a:endParaRPr lang="en-US" u="sng" dirty="0"/>
          </a:p>
        </p:txBody>
      </p:sp>
      <p:sp>
        <p:nvSpPr>
          <p:cNvPr id="26" name="Google Shape;271;p9"/>
          <p:cNvSpPr txBox="1"/>
          <p:nvPr/>
        </p:nvSpPr>
        <p:spPr>
          <a:xfrm>
            <a:off x="6436592" y="4404200"/>
            <a:ext cx="4937760" cy="1532723"/>
          </a:xfrm>
          <a:prstGeom prst="rect">
            <a:avLst/>
          </a:prstGeom>
          <a:noFill/>
          <a:ln>
            <a:noFill/>
          </a:ln>
        </p:spPr>
        <p:txBody>
          <a:bodyPr spcFirstLastPara="1" wrap="square" lIns="73150" tIns="73150" rIns="73150" bIns="73150" anchor="t" anchorCtr="0">
            <a:spAutoFit/>
          </a:bodyPr>
          <a:lstStyle/>
          <a:p>
            <a:pPr marL="0" marR="0" lvl="0" indent="0" algn="l" rtl="0">
              <a:spcBef>
                <a:spcPts val="0"/>
              </a:spcBef>
              <a:spcAft>
                <a:spcPts val="0"/>
              </a:spcAft>
              <a:buNone/>
            </a:pPr>
            <a:r>
              <a:rPr lang="en-US" b="0" dirty="0">
                <a:solidFill>
                  <a:srgbClr val="232A32"/>
                </a:solidFill>
                <a:latin typeface="Arial"/>
                <a:ea typeface="Arial"/>
                <a:cs typeface="Arial"/>
                <a:sym typeface="Arial"/>
              </a:rPr>
              <a:t>Input: typed/pasted text or .txt, .md, .</a:t>
            </a:r>
            <a:r>
              <a:rPr lang="en-US" b="0" dirty="0" err="1">
                <a:solidFill>
                  <a:srgbClr val="232A32"/>
                </a:solidFill>
                <a:latin typeface="Arial"/>
                <a:ea typeface="Arial"/>
                <a:cs typeface="Arial"/>
                <a:sym typeface="Arial"/>
              </a:rPr>
              <a:t>csv</a:t>
            </a:r>
            <a:r>
              <a:rPr lang="en-US" b="0" dirty="0">
                <a:solidFill>
                  <a:srgbClr val="232A32"/>
                </a:solidFill>
                <a:latin typeface="Arial"/>
                <a:ea typeface="Arial"/>
                <a:cs typeface="Arial"/>
                <a:sym typeface="Arial"/>
              </a:rPr>
              <a:t>, .log, .fasta files.</a:t>
            </a:r>
            <a:r>
              <a:rPr lang="en-US" dirty="0">
                <a:solidFill>
                  <a:schemeClr val="dk1"/>
                </a:solidFill>
                <a:latin typeface="Calibri"/>
                <a:ea typeface="Calibri"/>
                <a:cs typeface="Calibri"/>
                <a:sym typeface="Calibri"/>
              </a:rPr>
              <a:t/>
            </a:r>
            <a:br>
              <a:rPr lang="en-US" dirty="0">
                <a:solidFill>
                  <a:schemeClr val="dk1"/>
                </a:solidFill>
                <a:latin typeface="Calibri"/>
                <a:ea typeface="Calibri"/>
                <a:cs typeface="Calibri"/>
                <a:sym typeface="Calibri"/>
              </a:rPr>
            </a:br>
            <a:r>
              <a:rPr lang="en-US" b="0" dirty="0">
                <a:solidFill>
                  <a:srgbClr val="232A32"/>
                </a:solidFill>
                <a:latin typeface="Arial"/>
                <a:ea typeface="Arial"/>
                <a:cs typeface="Arial"/>
                <a:sym typeface="Arial"/>
              </a:rPr>
              <a:t>Output: </a:t>
            </a:r>
            <a:r>
              <a:rPr lang="en-US" b="0" dirty="0" smtClean="0">
                <a:solidFill>
                  <a:srgbClr val="232A32"/>
                </a:solidFill>
                <a:latin typeface="Arial"/>
                <a:ea typeface="Arial"/>
                <a:cs typeface="Arial"/>
                <a:sym typeface="Arial"/>
              </a:rPr>
              <a:t>Raw data to data centers </a:t>
            </a:r>
          </a:p>
          <a:p>
            <a:pPr marL="0" marR="0" lvl="0" indent="0" algn="l" rtl="0">
              <a:spcBef>
                <a:spcPts val="0"/>
              </a:spcBef>
              <a:spcAft>
                <a:spcPts val="0"/>
              </a:spcAft>
              <a:buNone/>
            </a:pPr>
            <a:r>
              <a:rPr lang="en-US" b="0" dirty="0" smtClean="0">
                <a:solidFill>
                  <a:srgbClr val="232A32"/>
                </a:solidFill>
                <a:latin typeface="Arial"/>
                <a:ea typeface="Arial"/>
                <a:cs typeface="Arial"/>
                <a:sym typeface="Arial"/>
              </a:rPr>
              <a:t>visualization</a:t>
            </a:r>
            <a:r>
              <a:rPr lang="en-US" b="0" dirty="0">
                <a:solidFill>
                  <a:srgbClr val="232A32"/>
                </a:solidFill>
                <a:latin typeface="Arial"/>
                <a:ea typeface="Arial"/>
                <a:cs typeface="Arial"/>
                <a:sym typeface="Arial"/>
              </a:rPr>
              <a:t>, performance comparison and </a:t>
            </a:r>
            <a:r>
              <a:rPr lang="en-US" b="0" dirty="0" smtClean="0">
                <a:solidFill>
                  <a:srgbClr val="232A32"/>
                </a:solidFill>
                <a:latin typeface="Arial"/>
                <a:ea typeface="Arial"/>
                <a:cs typeface="Arial"/>
                <a:sym typeface="Arial"/>
              </a:rPr>
              <a:t>high maintanence.</a:t>
            </a:r>
            <a:endParaRPr dirty="0"/>
          </a:p>
        </p:txBody>
      </p:sp>
      <p:sp>
        <p:nvSpPr>
          <p:cNvPr id="27" name="Google Shape;261;p9"/>
          <p:cNvSpPr/>
          <p:nvPr/>
        </p:nvSpPr>
        <p:spPr>
          <a:xfrm flipH="1">
            <a:off x="6258910" y="1072054"/>
            <a:ext cx="45719" cy="2282361"/>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 name="Google Shape;261;p9"/>
          <p:cNvSpPr/>
          <p:nvPr/>
        </p:nvSpPr>
        <p:spPr>
          <a:xfrm>
            <a:off x="402577" y="1054469"/>
            <a:ext cx="61643" cy="2282361"/>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 name="Google Shape;261;p9"/>
          <p:cNvSpPr/>
          <p:nvPr/>
        </p:nvSpPr>
        <p:spPr>
          <a:xfrm>
            <a:off x="346841" y="3748054"/>
            <a:ext cx="55736" cy="2296044"/>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 name="Google Shape;261;p9"/>
          <p:cNvSpPr/>
          <p:nvPr/>
        </p:nvSpPr>
        <p:spPr>
          <a:xfrm>
            <a:off x="6237497" y="3837312"/>
            <a:ext cx="45719" cy="2282361"/>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2927509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6" name="Rectangle 2"/>
          <p:cNvSpPr>
            <a:spLocks noChangeArrowheads="1"/>
          </p:cNvSpPr>
          <p:nvPr/>
        </p:nvSpPr>
        <p:spPr bwMode="auto">
          <a:xfrm>
            <a:off x="2900854" y="1484810"/>
            <a:ext cx="9065173"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lvl="0" eaLnBrk="0" fontAlgn="base" hangingPunct="0">
              <a:spcBef>
                <a:spcPct val="0"/>
              </a:spcBef>
              <a:spcAft>
                <a:spcPct val="0"/>
              </a:spcAft>
            </a:pPr>
            <a:r>
              <a:rPr kumimoji="0" lang="en-US" sz="1800" b="1" i="0" u="none" strike="noStrike" cap="none" normalizeH="0" baseline="0" dirty="0" smtClean="0">
                <a:ln>
                  <a:noFill/>
                </a:ln>
                <a:solidFill>
                  <a:schemeClr val="tx1"/>
                </a:solidFill>
                <a:effectLst/>
                <a:latin typeface="Google Sans Text"/>
              </a:rPr>
              <a:t>Core Achievement</a:t>
            </a:r>
            <a:r>
              <a:rPr kumimoji="0" lang="en-US" sz="1800" b="0" i="0" u="none" strike="noStrike" cap="none" normalizeH="0" baseline="0" dirty="0" smtClean="0">
                <a:ln>
                  <a:noFill/>
                </a:ln>
                <a:solidFill>
                  <a:schemeClr val="tx1"/>
                </a:solidFill>
                <a:effectLst/>
              </a:rPr>
              <a:t>: Developed a high-performance Network Flow Optimization Engine using Dinic’s Algorithm (</a:t>
            </a:r>
            <a:r>
              <a:rPr kumimoji="0" lang="en-US" sz="1800" b="0" i="0" u="none" strike="noStrike" cap="none" normalizeH="0" baseline="0" dirty="0" smtClean="0">
                <a:ln>
                  <a:noFill/>
                </a:ln>
                <a:solidFill>
                  <a:schemeClr val="tx1"/>
                </a:solidFill>
                <a:effectLst/>
                <a:latin typeface="Google Sans Text"/>
              </a:rPr>
              <a:t>O(V^2E)</a:t>
            </a:r>
            <a:r>
              <a:rPr kumimoji="0" lang="en-US" sz="1800" b="0" i="0" u="none" strike="noStrike" cap="none" normalizeH="0" baseline="0" dirty="0" smtClean="0">
                <a:ln>
                  <a:noFill/>
                </a:ln>
                <a:solidFill>
                  <a:schemeClr val="tx1"/>
                </a:solidFill>
                <a:effectLst/>
              </a:rPr>
              <a:t>) with zero </a:t>
            </a:r>
            <a:r>
              <a:rPr kumimoji="0" lang="en-US" sz="1800" b="0" i="0" u="none" strike="noStrike" cap="none" normalizeH="0" baseline="0" dirty="0" smtClean="0">
                <a:ln>
                  <a:noFill/>
                </a:ln>
                <a:solidFill>
                  <a:srgbClr val="FF0000"/>
                </a:solidFill>
                <a:effectLst/>
              </a:rPr>
              <a:t>java.util.* </a:t>
            </a:r>
            <a:r>
              <a:rPr lang="en-US" dirty="0"/>
              <a:t>dependencies, utilizing custom Forward-Star primitive arrays for optimized CPU cache locality.</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3"/>
          <p:cNvSpPr>
            <a:spLocks noChangeArrowheads="1"/>
          </p:cNvSpPr>
          <p:nvPr/>
        </p:nvSpPr>
        <p:spPr bwMode="auto">
          <a:xfrm>
            <a:off x="2096814" y="2840645"/>
            <a:ext cx="9531927"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Google Sans Text"/>
              </a:rPr>
              <a:t>Performance Gain</a:t>
            </a:r>
            <a:r>
              <a:rPr kumimoji="0" lang="en-US" sz="1800" b="0" i="0" u="none" strike="noStrike" cap="none" normalizeH="0" baseline="0" dirty="0" smtClean="0">
                <a:ln>
                  <a:noFill/>
                </a:ln>
                <a:solidFill>
                  <a:schemeClr val="tx1"/>
                </a:solidFill>
                <a:effectLst/>
                <a:latin typeface="Google Sans Text"/>
              </a:rPr>
              <a:t>: Demonstrated multi-fold speedups and lower memory overhead compared to Edmonds–Karp (O(VE^2)) when computing maximum flow across large-scale, sparse network topologies.</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4"/>
          <p:cNvSpPr>
            <a:spLocks noChangeArrowheads="1"/>
          </p:cNvSpPr>
          <p:nvPr/>
        </p:nvSpPr>
        <p:spPr bwMode="auto">
          <a:xfrm>
            <a:off x="819807" y="4167801"/>
            <a:ext cx="8455891"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Google Sans Text"/>
              </a:rPr>
              <a:t>Real-World Utility</a:t>
            </a:r>
            <a:r>
              <a:rPr kumimoji="0" lang="en-US" sz="1800" b="0" i="0" u="none" strike="noStrike" cap="none" normalizeH="0" baseline="0" dirty="0" smtClean="0">
                <a:ln>
                  <a:noFill/>
                </a:ln>
                <a:solidFill>
                  <a:schemeClr val="tx1"/>
                </a:solidFill>
                <a:effectLst/>
                <a:latin typeface="Google Sans Text"/>
              </a:rPr>
              <a:t>: Successfully combined an abstract graph benchmarker (10,000+ nodes) with an interactive CDN Traffic Simulator, enabling real-time visualization of BFS level graphs, DFS blocking flows, and Min-Cut bottleneck isolation.</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Round Diagonal Corner Rectangle 1"/>
          <p:cNvSpPr/>
          <p:nvPr/>
        </p:nvSpPr>
        <p:spPr>
          <a:xfrm>
            <a:off x="141890" y="4508938"/>
            <a:ext cx="3594219" cy="1844565"/>
          </a:xfrm>
          <a:prstGeom prst="round2Diag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 Diagonal Corner Rectangle 5"/>
          <p:cNvSpPr/>
          <p:nvPr/>
        </p:nvSpPr>
        <p:spPr>
          <a:xfrm>
            <a:off x="4146331" y="4475919"/>
            <a:ext cx="3594219" cy="1844565"/>
          </a:xfrm>
          <a:prstGeom prst="round2DiagRect">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 Diagonal Corner Rectangle 6"/>
          <p:cNvSpPr/>
          <p:nvPr/>
        </p:nvSpPr>
        <p:spPr>
          <a:xfrm>
            <a:off x="8150772" y="4475918"/>
            <a:ext cx="3594219" cy="1844565"/>
          </a:xfrm>
          <a:prstGeom prst="round2Diag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 Diagonal Corner Rectangle 7"/>
          <p:cNvSpPr/>
          <p:nvPr/>
        </p:nvSpPr>
        <p:spPr>
          <a:xfrm>
            <a:off x="4192049" y="1921648"/>
            <a:ext cx="4586191" cy="1844565"/>
          </a:xfrm>
          <a:prstGeom prst="round2Diag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298;p11"/>
          <p:cNvSpPr/>
          <p:nvPr/>
        </p:nvSpPr>
        <p:spPr>
          <a:xfrm>
            <a:off x="4192049" y="1898652"/>
            <a:ext cx="45719" cy="1844565"/>
          </a:xfrm>
          <a:prstGeom prst="rect">
            <a:avLst/>
          </a:prstGeom>
          <a:solidFill>
            <a:schemeClr val="tx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 name="Google Shape;298;p11"/>
          <p:cNvSpPr/>
          <p:nvPr/>
        </p:nvSpPr>
        <p:spPr>
          <a:xfrm>
            <a:off x="4146330" y="4535501"/>
            <a:ext cx="45719" cy="1844565"/>
          </a:xfrm>
          <a:prstGeom prst="rect">
            <a:avLst/>
          </a:prstGeom>
          <a:solidFill>
            <a:srgbClr val="92D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 name="Google Shape;298;p11"/>
          <p:cNvSpPr/>
          <p:nvPr/>
        </p:nvSpPr>
        <p:spPr>
          <a:xfrm>
            <a:off x="92755" y="4508938"/>
            <a:ext cx="45719" cy="1844565"/>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298;p11"/>
          <p:cNvSpPr/>
          <p:nvPr/>
        </p:nvSpPr>
        <p:spPr>
          <a:xfrm>
            <a:off x="8157603" y="4475918"/>
            <a:ext cx="45719" cy="1844565"/>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Rectangle 13"/>
          <p:cNvSpPr/>
          <p:nvPr/>
        </p:nvSpPr>
        <p:spPr>
          <a:xfrm>
            <a:off x="4299607" y="2038582"/>
            <a:ext cx="4254364" cy="369332"/>
          </a:xfrm>
          <a:prstGeom prst="rect">
            <a:avLst/>
          </a:prstGeom>
          <a:solidFill>
            <a:schemeClr val="bg1"/>
          </a:solidFill>
        </p:spPr>
        <p:txBody>
          <a:bodyPr wrap="square">
            <a:spAutoFit/>
          </a:bodyPr>
          <a:lstStyle/>
          <a:p>
            <a:r>
              <a:rPr lang="en-US" b="1" u="sng" dirty="0">
                <a:latin typeface="Arial" panose="020B0604020202020204" pitchFamily="34" charset="0"/>
              </a:rPr>
              <a:t>Dynamic Real-Time Re-Capacitation</a:t>
            </a:r>
            <a:endParaRPr lang="en-US" u="sng" dirty="0"/>
          </a:p>
        </p:txBody>
      </p:sp>
      <p:sp>
        <p:nvSpPr>
          <p:cNvPr id="15" name="Rectangle 14"/>
          <p:cNvSpPr/>
          <p:nvPr/>
        </p:nvSpPr>
        <p:spPr>
          <a:xfrm>
            <a:off x="4265355" y="2551544"/>
            <a:ext cx="4011273" cy="584775"/>
          </a:xfrm>
          <a:prstGeom prst="rect">
            <a:avLst/>
          </a:prstGeom>
        </p:spPr>
        <p:txBody>
          <a:bodyPr wrap="square">
            <a:spAutoFit/>
          </a:bodyPr>
          <a:lstStyle/>
          <a:p>
            <a:r>
              <a:rPr lang="en-US" sz="1600" dirty="0" smtClean="0">
                <a:latin typeface="Arial" panose="020B0604020202020204" pitchFamily="34" charset="0"/>
              </a:rPr>
              <a:t>Adapt </a:t>
            </a:r>
            <a:r>
              <a:rPr lang="en-US" sz="1600" dirty="0">
                <a:latin typeface="Arial" panose="020B0604020202020204" pitchFamily="34" charset="0"/>
              </a:rPr>
              <a:t>to link failures and live traffic changes without full graph recomputation.</a:t>
            </a:r>
            <a:endParaRPr lang="en-US" sz="1600" dirty="0"/>
          </a:p>
        </p:txBody>
      </p:sp>
      <p:sp>
        <p:nvSpPr>
          <p:cNvPr id="16" name="Rectangle 15"/>
          <p:cNvSpPr/>
          <p:nvPr/>
        </p:nvSpPr>
        <p:spPr>
          <a:xfrm>
            <a:off x="318491" y="4623320"/>
            <a:ext cx="3241015" cy="369332"/>
          </a:xfrm>
          <a:prstGeom prst="rect">
            <a:avLst/>
          </a:prstGeom>
        </p:spPr>
        <p:txBody>
          <a:bodyPr wrap="none">
            <a:spAutoFit/>
          </a:bodyPr>
          <a:lstStyle/>
          <a:p>
            <a:r>
              <a:rPr lang="en-US" b="1" u="sng" dirty="0">
                <a:solidFill>
                  <a:srgbClr val="C00000"/>
                </a:solidFill>
                <a:latin typeface="Arial" panose="020B0604020202020204" pitchFamily="34" charset="0"/>
              </a:rPr>
              <a:t>Parallel &amp; GPU Acceleration</a:t>
            </a:r>
            <a:endParaRPr lang="en-US" u="sng" dirty="0">
              <a:solidFill>
                <a:srgbClr val="C00000"/>
              </a:solidFill>
            </a:endParaRPr>
          </a:p>
        </p:txBody>
      </p:sp>
      <p:sp>
        <p:nvSpPr>
          <p:cNvPr id="17" name="Rectangle 16"/>
          <p:cNvSpPr/>
          <p:nvPr/>
        </p:nvSpPr>
        <p:spPr>
          <a:xfrm>
            <a:off x="367385" y="5108054"/>
            <a:ext cx="3192121" cy="830997"/>
          </a:xfrm>
          <a:prstGeom prst="rect">
            <a:avLst/>
          </a:prstGeom>
        </p:spPr>
        <p:txBody>
          <a:bodyPr wrap="square">
            <a:spAutoFit/>
          </a:bodyPr>
          <a:lstStyle/>
          <a:p>
            <a:r>
              <a:rPr lang="en-US" sz="1600" dirty="0">
                <a:latin typeface="Arial" panose="020B0604020202020204" pitchFamily="34" charset="0"/>
              </a:rPr>
              <a:t>Multi-thread BFS and DFS execution via CUDA kernels for multi-million-node topologies.</a:t>
            </a:r>
            <a:endParaRPr lang="en-US" sz="1600" dirty="0"/>
          </a:p>
        </p:txBody>
      </p:sp>
      <p:sp>
        <p:nvSpPr>
          <p:cNvPr id="18" name="Rectangle 17"/>
          <p:cNvSpPr/>
          <p:nvPr/>
        </p:nvSpPr>
        <p:spPr>
          <a:xfrm>
            <a:off x="4299607" y="4586065"/>
            <a:ext cx="3326552" cy="369332"/>
          </a:xfrm>
          <a:prstGeom prst="rect">
            <a:avLst/>
          </a:prstGeom>
        </p:spPr>
        <p:txBody>
          <a:bodyPr wrap="none">
            <a:spAutoFit/>
          </a:bodyPr>
          <a:lstStyle/>
          <a:p>
            <a:r>
              <a:rPr lang="en-US" b="1" u="sng" dirty="0">
                <a:solidFill>
                  <a:srgbClr val="92D050"/>
                </a:solidFill>
                <a:latin typeface="Arial" panose="020B0604020202020204" pitchFamily="34" charset="0"/>
              </a:rPr>
              <a:t>Min-Cost Max-Flow (MCMF</a:t>
            </a:r>
            <a:r>
              <a:rPr lang="en-US" b="1" u="sng" dirty="0" smtClean="0">
                <a:solidFill>
                  <a:srgbClr val="92D050"/>
                </a:solidFill>
                <a:latin typeface="Arial" panose="020B0604020202020204" pitchFamily="34" charset="0"/>
              </a:rPr>
              <a:t>)</a:t>
            </a:r>
            <a:r>
              <a:rPr lang="en-US" u="sng" dirty="0" smtClean="0">
                <a:solidFill>
                  <a:srgbClr val="92D050"/>
                </a:solidFill>
                <a:latin typeface="Arial" panose="020B0604020202020204" pitchFamily="34" charset="0"/>
              </a:rPr>
              <a:t> </a:t>
            </a:r>
            <a:endParaRPr lang="en-US" u="sng" dirty="0">
              <a:solidFill>
                <a:srgbClr val="92D050"/>
              </a:solidFill>
            </a:endParaRPr>
          </a:p>
        </p:txBody>
      </p:sp>
      <p:sp>
        <p:nvSpPr>
          <p:cNvPr id="19" name="Rectangle 18"/>
          <p:cNvSpPr/>
          <p:nvPr/>
        </p:nvSpPr>
        <p:spPr>
          <a:xfrm>
            <a:off x="4299607" y="5132510"/>
            <a:ext cx="3326552" cy="830997"/>
          </a:xfrm>
          <a:prstGeom prst="rect">
            <a:avLst/>
          </a:prstGeom>
        </p:spPr>
        <p:txBody>
          <a:bodyPr wrap="square">
            <a:spAutoFit/>
          </a:bodyPr>
          <a:lstStyle/>
          <a:p>
            <a:pPr lvl="0" eaLnBrk="0" fontAlgn="base" hangingPunct="0">
              <a:spcBef>
                <a:spcPct val="0"/>
              </a:spcBef>
              <a:spcAft>
                <a:spcPct val="0"/>
              </a:spcAft>
            </a:pPr>
            <a:r>
              <a:rPr lang="en-US" sz="1600" dirty="0">
                <a:latin typeface="Arial" panose="020B0604020202020204" pitchFamily="34" charset="0"/>
              </a:rPr>
              <a:t>Optimize for routing latency and financial transit costs alongside raw throughput.</a:t>
            </a:r>
          </a:p>
        </p:txBody>
      </p:sp>
      <p:sp>
        <p:nvSpPr>
          <p:cNvPr id="20" name="Rectangle 19"/>
          <p:cNvSpPr/>
          <p:nvPr/>
        </p:nvSpPr>
        <p:spPr>
          <a:xfrm>
            <a:off x="8423553" y="4605854"/>
            <a:ext cx="3048655" cy="369332"/>
          </a:xfrm>
          <a:prstGeom prst="rect">
            <a:avLst/>
          </a:prstGeom>
        </p:spPr>
        <p:txBody>
          <a:bodyPr wrap="none">
            <a:spAutoFit/>
          </a:bodyPr>
          <a:lstStyle/>
          <a:p>
            <a:r>
              <a:rPr lang="en-US" b="1" u="sng" dirty="0">
                <a:solidFill>
                  <a:srgbClr val="FF0000"/>
                </a:solidFill>
                <a:latin typeface="Arial" panose="020B0604020202020204" pitchFamily="34" charset="0"/>
              </a:rPr>
              <a:t>Autonomous AI Rerouting</a:t>
            </a:r>
            <a:endParaRPr lang="en-US" u="sng" dirty="0">
              <a:solidFill>
                <a:srgbClr val="FF0000"/>
              </a:solidFill>
            </a:endParaRPr>
          </a:p>
        </p:txBody>
      </p:sp>
      <p:sp>
        <p:nvSpPr>
          <p:cNvPr id="21" name="Rectangle 20"/>
          <p:cNvSpPr/>
          <p:nvPr/>
        </p:nvSpPr>
        <p:spPr>
          <a:xfrm>
            <a:off x="8299079" y="5132510"/>
            <a:ext cx="3350154" cy="1077218"/>
          </a:xfrm>
          <a:prstGeom prst="rect">
            <a:avLst/>
          </a:prstGeom>
        </p:spPr>
        <p:txBody>
          <a:bodyPr wrap="square">
            <a:spAutoFit/>
          </a:bodyPr>
          <a:lstStyle/>
          <a:p>
            <a:r>
              <a:rPr lang="en-US" sz="1600" dirty="0">
                <a:latin typeface="Arial" panose="020B0604020202020204" pitchFamily="34" charset="0"/>
              </a:rPr>
              <a:t>Integrate predictive ML models to forecast traffic spikes and reroute workloads before bottleneck saturation.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0700" y="1598630"/>
            <a:ext cx="4932280" cy="3761644"/>
          </a:xfrm>
          <a:prstGeom prst="rect">
            <a:avLst/>
          </a:prstGeom>
        </p:spPr>
      </p:pic>
      <p:pic>
        <p:nvPicPr>
          <p:cNvPr id="4" name="Picture 3"/>
          <p:cNvPicPr>
            <a:picLocks noChangeAspect="1"/>
          </p:cNvPicPr>
          <p:nvPr/>
        </p:nvPicPr>
        <p:blipFill>
          <a:blip r:embed="rId3"/>
          <a:stretch>
            <a:fillRect/>
          </a:stretch>
        </p:blipFill>
        <p:spPr>
          <a:xfrm>
            <a:off x="6353503" y="1598630"/>
            <a:ext cx="5156534" cy="3761645"/>
          </a:xfrm>
          <a:prstGeom prst="rect">
            <a:avLst/>
          </a:prstGeom>
        </p:spPr>
      </p:pic>
      <p:sp>
        <p:nvSpPr>
          <p:cNvPr id="5" name="Rounded Rectangle 4"/>
          <p:cNvSpPr/>
          <p:nvPr/>
        </p:nvSpPr>
        <p:spPr>
          <a:xfrm>
            <a:off x="2846840" y="220717"/>
            <a:ext cx="6400800" cy="725214"/>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Sample Code</a:t>
            </a:r>
            <a:endParaRPr lang="en-US" sz="2800" b="1" dirty="0"/>
          </a:p>
        </p:txBody>
      </p:sp>
    </p:spTree>
    <p:extLst>
      <p:ext uri="{BB962C8B-B14F-4D97-AF65-F5344CB8AC3E}">
        <p14:creationId xmlns:p14="http://schemas.microsoft.com/office/powerpoint/2010/main" val="547617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918985" y="226235"/>
            <a:ext cx="7315200" cy="867103"/>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t>Code Execution</a:t>
            </a:r>
            <a:endParaRPr lang="en-US" sz="3200" b="1" dirty="0"/>
          </a:p>
        </p:txBody>
      </p:sp>
      <p:pic>
        <p:nvPicPr>
          <p:cNvPr id="3" name="Picture 2"/>
          <p:cNvPicPr>
            <a:picLocks noChangeAspect="1"/>
          </p:cNvPicPr>
          <p:nvPr/>
        </p:nvPicPr>
        <p:blipFill>
          <a:blip r:embed="rId2"/>
          <a:stretch>
            <a:fillRect/>
          </a:stretch>
        </p:blipFill>
        <p:spPr>
          <a:xfrm>
            <a:off x="2758965" y="1901158"/>
            <a:ext cx="7292972" cy="3749365"/>
          </a:xfrm>
          <a:prstGeom prst="rect">
            <a:avLst/>
          </a:prstGeom>
        </p:spPr>
      </p:pic>
    </p:spTree>
    <p:extLst>
      <p:ext uri="{BB962C8B-B14F-4D97-AF65-F5344CB8AC3E}">
        <p14:creationId xmlns:p14="http://schemas.microsoft.com/office/powerpoint/2010/main" val="1413194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916621" y="173421"/>
            <a:ext cx="6747641" cy="788276"/>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Web page</a:t>
            </a:r>
            <a:endParaRPr lang="en-US" sz="2800" b="1" dirty="0"/>
          </a:p>
        </p:txBody>
      </p:sp>
      <p:pic>
        <p:nvPicPr>
          <p:cNvPr id="3" name="Picture 2"/>
          <p:cNvPicPr>
            <a:picLocks noChangeAspect="1"/>
          </p:cNvPicPr>
          <p:nvPr/>
        </p:nvPicPr>
        <p:blipFill>
          <a:blip r:embed="rId2"/>
          <a:stretch>
            <a:fillRect/>
          </a:stretch>
        </p:blipFill>
        <p:spPr>
          <a:xfrm>
            <a:off x="567558" y="1229711"/>
            <a:ext cx="11193517" cy="5423337"/>
          </a:xfrm>
          <a:prstGeom prst="rect">
            <a:avLst/>
          </a:prstGeom>
        </p:spPr>
      </p:pic>
    </p:spTree>
    <p:extLst>
      <p:ext uri="{BB962C8B-B14F-4D97-AF65-F5344CB8AC3E}">
        <p14:creationId xmlns:p14="http://schemas.microsoft.com/office/powerpoint/2010/main" val="1162863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758966" y="189186"/>
            <a:ext cx="7236372" cy="772511"/>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Page Execution</a:t>
            </a:r>
            <a:endParaRPr lang="en-US" sz="2800" b="1" dirty="0"/>
          </a:p>
        </p:txBody>
      </p:sp>
      <p:pic>
        <p:nvPicPr>
          <p:cNvPr id="3" name="Picture 2"/>
          <p:cNvPicPr>
            <a:picLocks noChangeAspect="1"/>
          </p:cNvPicPr>
          <p:nvPr/>
        </p:nvPicPr>
        <p:blipFill>
          <a:blip r:embed="rId2"/>
          <a:stretch>
            <a:fillRect/>
          </a:stretch>
        </p:blipFill>
        <p:spPr>
          <a:xfrm>
            <a:off x="1229710" y="1261241"/>
            <a:ext cx="9963807" cy="5472645"/>
          </a:xfrm>
          <a:prstGeom prst="rect">
            <a:avLst/>
          </a:prstGeom>
        </p:spPr>
      </p:pic>
    </p:spTree>
    <p:extLst>
      <p:ext uri="{BB962C8B-B14F-4D97-AF65-F5344CB8AC3E}">
        <p14:creationId xmlns:p14="http://schemas.microsoft.com/office/powerpoint/2010/main" val="2251756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3042744" y="157655"/>
            <a:ext cx="6542690" cy="709448"/>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Geotag photos</a:t>
            </a:r>
            <a:endParaRPr lang="en-US" sz="28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195" y="1119352"/>
            <a:ext cx="5143500" cy="536815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2498" y="1119352"/>
            <a:ext cx="5143500" cy="5368158"/>
          </a:xfrm>
          <a:prstGeom prst="rect">
            <a:avLst/>
          </a:prstGeom>
        </p:spPr>
      </p:pic>
    </p:spTree>
    <p:extLst>
      <p:ext uri="{BB962C8B-B14F-4D97-AF65-F5344CB8AC3E}">
        <p14:creationId xmlns:p14="http://schemas.microsoft.com/office/powerpoint/2010/main" val="988472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988</Words>
  <Application>Microsoft Office PowerPoint</Application>
  <PresentationFormat>Widescreen</PresentationFormat>
  <Paragraphs>88</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Gautami</vt:lpstr>
      <vt:lpstr>Google Sans Text</vt:lpstr>
      <vt:lpstr>Instrument Sans Medium</vt:lpstr>
      <vt:lpstr>Times New Roman</vt:lpstr>
      <vt:lpstr>Wingdings</vt:lpstr>
      <vt:lpstr>Office Theme</vt:lpstr>
      <vt:lpstr>            Data Structures and Algorithms -3       (25CS2103E)  Network Flow Optimization Engine for Data  Center Traffic Routing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Sai</cp:lastModifiedBy>
  <cp:revision>58</cp:revision>
  <dcterms:created xsi:type="dcterms:W3CDTF">2024-08-29T05:25:00Z</dcterms:created>
  <dcterms:modified xsi:type="dcterms:W3CDTF">2026-10-02T13:51:33Z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